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-948" y="-6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6047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华为云GaussDB公有云开发者版免费试用。此页位于任务范围与分组方式之后、成绩分配之前。</a:t>
            </a:r>
          </a:p>
          <a:p>
            <a:r>
              <a:t>本页仅展示教师指定的产品网址与两张原始截图，不添加操作步骤。</a:t>
            </a:r>
          </a:p>
          <a:p>
            <a:r>
              <a:t>产品入口：https://www.huaweicloud.com/product/gaussdb.html</a:t>
            </a:r>
          </a:p>
          <a:p>
            <a:r>
              <a:t>报名入口：https://developer.huaweicloud.com/signup/ce49f964325241f880662888c2bae0e4</a:t>
            </a:r>
          </a:p>
          <a:p>
            <a:r>
              <a:t>左图：用户提供的产品页截图，原图完整保留。来源文件：C:/Users/Speediance/AppData/Local/Temp/codex-clipboard-b0a94516-dac1-4f4c-96af-2b8d28c7ef59.png</a:t>
            </a:r>
          </a:p>
          <a:p>
            <a:r>
              <a:t>右图：用户提供的活动报名页截图，原图完整保留。来源文件：C:/Users/Speediance/AppData/Local/Temp/codex-clipboard-fcfd6832-3a17-4f52-80b1-8b5972808e78.png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eba7d0f890d04214" Type="http://schemas.openxmlformats.org/officeDocument/2006/relationships/image" Target="../media/image4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www.huaweicloud.com/product/gaussdb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图片 105"/>
          <p:cNvPicPr>
            <a:picLocks noChangeAspect="1"/>
          </p:cNvPicPr>
          <p:nvPr/>
        </p:nvPicPr>
        <p:blipFill rotWithShape="1">
          <a:blip r:embed="rId3">
            <a:alphaModFix amt="7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970521" y="0"/>
            <a:ext cx="4221479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 flipH="1">
            <a:off x="0" y="0"/>
            <a:ext cx="7970521" cy="68580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7" name="图形 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719999" y="4710690"/>
            <a:ext cx="2853479" cy="1246245"/>
          </a:xfrm>
          <a:prstGeom prst="rect">
            <a:avLst/>
          </a:prstGeom>
        </p:spPr>
      </p:pic>
      <p:sp>
        <p:nvSpPr>
          <p:cNvPr id="55" name="任意多边形: 形状 54"/>
          <p:cNvSpPr>
            <a:spLocks noGrp="1"/>
          </p:cNvSpPr>
          <p:nvPr/>
        </p:nvSpPr>
        <p:spPr>
          <a:xfrm>
            <a:off x="2124416" y="1989377"/>
            <a:ext cx="358154" cy="446390"/>
          </a:xfrm>
          <a:custGeom>
            <a:avLst/>
            <a:gdLst>
              <a:gd name="connsiteX0" fmla="*/ 112727 w 165309"/>
              <a:gd name="connsiteY0" fmla="*/ 8952 h 206035"/>
              <a:gd name="connsiteX1" fmla="*/ 112727 w 165309"/>
              <a:gd name="connsiteY1" fmla="*/ 9061 h 206035"/>
              <a:gd name="connsiteX2" fmla="*/ 112727 w 165309"/>
              <a:gd name="connsiteY2" fmla="*/ 18297 h 206035"/>
              <a:gd name="connsiteX3" fmla="*/ 112727 w 165309"/>
              <a:gd name="connsiteY3" fmla="*/ 8952 h 206035"/>
              <a:gd name="connsiteX4" fmla="*/ 112727 w 165309"/>
              <a:gd name="connsiteY4" fmla="*/ 8952 h 206035"/>
              <a:gd name="connsiteX5" fmla="*/ 112727 w 165309"/>
              <a:gd name="connsiteY5" fmla="*/ 43788 h 206035"/>
              <a:gd name="connsiteX6" fmla="*/ 123964 w 165309"/>
              <a:gd name="connsiteY6" fmla="*/ 45534 h 206035"/>
              <a:gd name="connsiteX7" fmla="*/ 124909 w 165309"/>
              <a:gd name="connsiteY7" fmla="*/ 41788 h 206035"/>
              <a:gd name="connsiteX8" fmla="*/ 119418 w 165309"/>
              <a:gd name="connsiteY8" fmla="*/ 37461 h 206035"/>
              <a:gd name="connsiteX9" fmla="*/ 112764 w 165309"/>
              <a:gd name="connsiteY9" fmla="*/ 33134 h 206035"/>
              <a:gd name="connsiteX10" fmla="*/ 112764 w 165309"/>
              <a:gd name="connsiteY10" fmla="*/ 27388 h 206035"/>
              <a:gd name="connsiteX11" fmla="*/ 121418 w 165309"/>
              <a:gd name="connsiteY11" fmla="*/ 26225 h 206035"/>
              <a:gd name="connsiteX12" fmla="*/ 135818 w 165309"/>
              <a:gd name="connsiteY12" fmla="*/ 22734 h 206035"/>
              <a:gd name="connsiteX13" fmla="*/ 148218 w 165309"/>
              <a:gd name="connsiteY13" fmla="*/ 36661 h 206035"/>
              <a:gd name="connsiteX14" fmla="*/ 144364 w 165309"/>
              <a:gd name="connsiteY14" fmla="*/ 46116 h 206035"/>
              <a:gd name="connsiteX15" fmla="*/ 136546 w 165309"/>
              <a:gd name="connsiteY15" fmla="*/ 62152 h 206035"/>
              <a:gd name="connsiteX16" fmla="*/ 130800 w 165309"/>
              <a:gd name="connsiteY16" fmla="*/ 76988 h 206035"/>
              <a:gd name="connsiteX17" fmla="*/ 155600 w 165309"/>
              <a:gd name="connsiteY17" fmla="*/ 81316 h 206035"/>
              <a:gd name="connsiteX18" fmla="*/ 165309 w 165309"/>
              <a:gd name="connsiteY18" fmla="*/ 93134 h 206035"/>
              <a:gd name="connsiteX19" fmla="*/ 165309 w 165309"/>
              <a:gd name="connsiteY19" fmla="*/ 94407 h 206035"/>
              <a:gd name="connsiteX20" fmla="*/ 164727 w 165309"/>
              <a:gd name="connsiteY20" fmla="*/ 97316 h 206035"/>
              <a:gd name="connsiteX21" fmla="*/ 125091 w 165309"/>
              <a:gd name="connsiteY21" fmla="*/ 106552 h 206035"/>
              <a:gd name="connsiteX22" fmla="*/ 117491 w 165309"/>
              <a:gd name="connsiteY22" fmla="*/ 116116 h 206035"/>
              <a:gd name="connsiteX23" fmla="*/ 112800 w 165309"/>
              <a:gd name="connsiteY23" fmla="*/ 118116 h 206035"/>
              <a:gd name="connsiteX24" fmla="*/ 112800 w 165309"/>
              <a:gd name="connsiteY24" fmla="*/ 95897 h 206035"/>
              <a:gd name="connsiteX25" fmla="*/ 125055 w 165309"/>
              <a:gd name="connsiteY25" fmla="*/ 94843 h 206035"/>
              <a:gd name="connsiteX26" fmla="*/ 127164 w 165309"/>
              <a:gd name="connsiteY26" fmla="*/ 90152 h 206035"/>
              <a:gd name="connsiteX27" fmla="*/ 112764 w 165309"/>
              <a:gd name="connsiteY27" fmla="*/ 90407 h 206035"/>
              <a:gd name="connsiteX28" fmla="*/ 112764 w 165309"/>
              <a:gd name="connsiteY28" fmla="*/ 56734 h 206035"/>
              <a:gd name="connsiteX29" fmla="*/ 118473 w 165309"/>
              <a:gd name="connsiteY29" fmla="*/ 55934 h 206035"/>
              <a:gd name="connsiteX30" fmla="*/ 118255 w 165309"/>
              <a:gd name="connsiteY30" fmla="*/ 51716 h 206035"/>
              <a:gd name="connsiteX31" fmla="*/ 112764 w 165309"/>
              <a:gd name="connsiteY31" fmla="*/ 50661 h 206035"/>
              <a:gd name="connsiteX32" fmla="*/ 112764 w 165309"/>
              <a:gd name="connsiteY32" fmla="*/ 43752 h 206035"/>
              <a:gd name="connsiteX33" fmla="*/ 112764 w 165309"/>
              <a:gd name="connsiteY33" fmla="*/ 43752 h 206035"/>
              <a:gd name="connsiteX34" fmla="*/ 112727 w 165309"/>
              <a:gd name="connsiteY34" fmla="*/ 132879 h 206035"/>
              <a:gd name="connsiteX35" fmla="*/ 124873 w 165309"/>
              <a:gd name="connsiteY35" fmla="*/ 131243 h 206035"/>
              <a:gd name="connsiteX36" fmla="*/ 136000 w 165309"/>
              <a:gd name="connsiteY36" fmla="*/ 129134 h 206035"/>
              <a:gd name="connsiteX37" fmla="*/ 146509 w 165309"/>
              <a:gd name="connsiteY37" fmla="*/ 143643 h 206035"/>
              <a:gd name="connsiteX38" fmla="*/ 131673 w 165309"/>
              <a:gd name="connsiteY38" fmla="*/ 153025 h 206035"/>
              <a:gd name="connsiteX39" fmla="*/ 112727 w 165309"/>
              <a:gd name="connsiteY39" fmla="*/ 150225 h 206035"/>
              <a:gd name="connsiteX40" fmla="*/ 112727 w 165309"/>
              <a:gd name="connsiteY40" fmla="*/ 132916 h 206035"/>
              <a:gd name="connsiteX41" fmla="*/ 107127 w 165309"/>
              <a:gd name="connsiteY41" fmla="*/ 2952 h 206035"/>
              <a:gd name="connsiteX42" fmla="*/ 112727 w 165309"/>
              <a:gd name="connsiteY42" fmla="*/ 8916 h 206035"/>
              <a:gd name="connsiteX43" fmla="*/ 112727 w 165309"/>
              <a:gd name="connsiteY43" fmla="*/ 18261 h 206035"/>
              <a:gd name="connsiteX44" fmla="*/ 107127 w 165309"/>
              <a:gd name="connsiteY44" fmla="*/ 25752 h 206035"/>
              <a:gd name="connsiteX45" fmla="*/ 107127 w 165309"/>
              <a:gd name="connsiteY45" fmla="*/ 2952 h 206035"/>
              <a:gd name="connsiteX46" fmla="*/ 107127 w 165309"/>
              <a:gd name="connsiteY46" fmla="*/ 2952 h 206035"/>
              <a:gd name="connsiteX47" fmla="*/ 107127 w 165309"/>
              <a:gd name="connsiteY47" fmla="*/ 34625 h 206035"/>
              <a:gd name="connsiteX48" fmla="*/ 109345 w 165309"/>
              <a:gd name="connsiteY48" fmla="*/ 40952 h 206035"/>
              <a:gd name="connsiteX49" fmla="*/ 112727 w 165309"/>
              <a:gd name="connsiteY49" fmla="*/ 43752 h 206035"/>
              <a:gd name="connsiteX50" fmla="*/ 112727 w 165309"/>
              <a:gd name="connsiteY50" fmla="*/ 50661 h 206035"/>
              <a:gd name="connsiteX51" fmla="*/ 108036 w 165309"/>
              <a:gd name="connsiteY51" fmla="*/ 50552 h 206035"/>
              <a:gd name="connsiteX52" fmla="*/ 107127 w 165309"/>
              <a:gd name="connsiteY52" fmla="*/ 50916 h 206035"/>
              <a:gd name="connsiteX53" fmla="*/ 107127 w 165309"/>
              <a:gd name="connsiteY53" fmla="*/ 34661 h 206035"/>
              <a:gd name="connsiteX54" fmla="*/ 107127 w 165309"/>
              <a:gd name="connsiteY54" fmla="*/ 34661 h 206035"/>
              <a:gd name="connsiteX55" fmla="*/ 112727 w 165309"/>
              <a:gd name="connsiteY55" fmla="*/ 33097 h 206035"/>
              <a:gd name="connsiteX56" fmla="*/ 110255 w 165309"/>
              <a:gd name="connsiteY56" fmla="*/ 30152 h 206035"/>
              <a:gd name="connsiteX57" fmla="*/ 112727 w 165309"/>
              <a:gd name="connsiteY57" fmla="*/ 27352 h 206035"/>
              <a:gd name="connsiteX58" fmla="*/ 112727 w 165309"/>
              <a:gd name="connsiteY58" fmla="*/ 33097 h 206035"/>
              <a:gd name="connsiteX59" fmla="*/ 112727 w 165309"/>
              <a:gd name="connsiteY59" fmla="*/ 33097 h 206035"/>
              <a:gd name="connsiteX60" fmla="*/ 112727 w 165309"/>
              <a:gd name="connsiteY60" fmla="*/ 118079 h 206035"/>
              <a:gd name="connsiteX61" fmla="*/ 107127 w 165309"/>
              <a:gd name="connsiteY61" fmla="*/ 121716 h 206035"/>
              <a:gd name="connsiteX62" fmla="*/ 107127 w 165309"/>
              <a:gd name="connsiteY62" fmla="*/ 96334 h 206035"/>
              <a:gd name="connsiteX63" fmla="*/ 112727 w 165309"/>
              <a:gd name="connsiteY63" fmla="*/ 95861 h 206035"/>
              <a:gd name="connsiteX64" fmla="*/ 112727 w 165309"/>
              <a:gd name="connsiteY64" fmla="*/ 118079 h 206035"/>
              <a:gd name="connsiteX65" fmla="*/ 112727 w 165309"/>
              <a:gd name="connsiteY65" fmla="*/ 118079 h 206035"/>
              <a:gd name="connsiteX66" fmla="*/ 107127 w 165309"/>
              <a:gd name="connsiteY66" fmla="*/ 133279 h 206035"/>
              <a:gd name="connsiteX67" fmla="*/ 112727 w 165309"/>
              <a:gd name="connsiteY67" fmla="*/ 132807 h 206035"/>
              <a:gd name="connsiteX68" fmla="*/ 112727 w 165309"/>
              <a:gd name="connsiteY68" fmla="*/ 150116 h 206035"/>
              <a:gd name="connsiteX69" fmla="*/ 108146 w 165309"/>
              <a:gd name="connsiteY69" fmla="*/ 150807 h 206035"/>
              <a:gd name="connsiteX70" fmla="*/ 107091 w 165309"/>
              <a:gd name="connsiteY70" fmla="*/ 151388 h 206035"/>
              <a:gd name="connsiteX71" fmla="*/ 107091 w 165309"/>
              <a:gd name="connsiteY71" fmla="*/ 133279 h 206035"/>
              <a:gd name="connsiteX72" fmla="*/ 107091 w 165309"/>
              <a:gd name="connsiteY72" fmla="*/ 133279 h 206035"/>
              <a:gd name="connsiteX73" fmla="*/ 112727 w 165309"/>
              <a:gd name="connsiteY73" fmla="*/ 90370 h 206035"/>
              <a:gd name="connsiteX74" fmla="*/ 107127 w 165309"/>
              <a:gd name="connsiteY74" fmla="*/ 90697 h 206035"/>
              <a:gd name="connsiteX75" fmla="*/ 107127 w 165309"/>
              <a:gd name="connsiteY75" fmla="*/ 75388 h 206035"/>
              <a:gd name="connsiteX76" fmla="*/ 108618 w 165309"/>
              <a:gd name="connsiteY76" fmla="*/ 74916 h 206035"/>
              <a:gd name="connsiteX77" fmla="*/ 109782 w 165309"/>
              <a:gd name="connsiteY77" fmla="*/ 71534 h 206035"/>
              <a:gd name="connsiteX78" fmla="*/ 107091 w 165309"/>
              <a:gd name="connsiteY78" fmla="*/ 70734 h 206035"/>
              <a:gd name="connsiteX79" fmla="*/ 107091 w 165309"/>
              <a:gd name="connsiteY79" fmla="*/ 55643 h 206035"/>
              <a:gd name="connsiteX80" fmla="*/ 111636 w 165309"/>
              <a:gd name="connsiteY80" fmla="*/ 56697 h 206035"/>
              <a:gd name="connsiteX81" fmla="*/ 112691 w 165309"/>
              <a:gd name="connsiteY81" fmla="*/ 56697 h 206035"/>
              <a:gd name="connsiteX82" fmla="*/ 112691 w 165309"/>
              <a:gd name="connsiteY82" fmla="*/ 90370 h 206035"/>
              <a:gd name="connsiteX83" fmla="*/ 89564 w 165309"/>
              <a:gd name="connsiteY83" fmla="*/ 19970 h 206035"/>
              <a:gd name="connsiteX84" fmla="*/ 91527 w 165309"/>
              <a:gd name="connsiteY84" fmla="*/ 18588 h 206035"/>
              <a:gd name="connsiteX85" fmla="*/ 100182 w 165309"/>
              <a:gd name="connsiteY85" fmla="*/ 7 h 206035"/>
              <a:gd name="connsiteX86" fmla="*/ 107091 w 165309"/>
              <a:gd name="connsiteY86" fmla="*/ 2916 h 206035"/>
              <a:gd name="connsiteX87" fmla="*/ 107091 w 165309"/>
              <a:gd name="connsiteY87" fmla="*/ 25716 h 206035"/>
              <a:gd name="connsiteX88" fmla="*/ 105564 w 165309"/>
              <a:gd name="connsiteY88" fmla="*/ 27570 h 206035"/>
              <a:gd name="connsiteX89" fmla="*/ 104145 w 165309"/>
              <a:gd name="connsiteY89" fmla="*/ 31097 h 206035"/>
              <a:gd name="connsiteX90" fmla="*/ 107091 w 165309"/>
              <a:gd name="connsiteY90" fmla="*/ 34588 h 206035"/>
              <a:gd name="connsiteX91" fmla="*/ 107091 w 165309"/>
              <a:gd name="connsiteY91" fmla="*/ 50843 h 206035"/>
              <a:gd name="connsiteX92" fmla="*/ 106945 w 165309"/>
              <a:gd name="connsiteY92" fmla="*/ 55388 h 206035"/>
              <a:gd name="connsiteX93" fmla="*/ 107091 w 165309"/>
              <a:gd name="connsiteY93" fmla="*/ 55607 h 206035"/>
              <a:gd name="connsiteX94" fmla="*/ 107091 w 165309"/>
              <a:gd name="connsiteY94" fmla="*/ 70697 h 206035"/>
              <a:gd name="connsiteX95" fmla="*/ 106618 w 165309"/>
              <a:gd name="connsiteY95" fmla="*/ 70697 h 206035"/>
              <a:gd name="connsiteX96" fmla="*/ 103927 w 165309"/>
              <a:gd name="connsiteY96" fmla="*/ 74188 h 206035"/>
              <a:gd name="connsiteX97" fmla="*/ 107091 w 165309"/>
              <a:gd name="connsiteY97" fmla="*/ 75352 h 206035"/>
              <a:gd name="connsiteX98" fmla="*/ 107091 w 165309"/>
              <a:gd name="connsiteY98" fmla="*/ 90661 h 206035"/>
              <a:gd name="connsiteX99" fmla="*/ 100073 w 165309"/>
              <a:gd name="connsiteY99" fmla="*/ 91243 h 206035"/>
              <a:gd name="connsiteX100" fmla="*/ 89564 w 165309"/>
              <a:gd name="connsiteY100" fmla="*/ 92043 h 206035"/>
              <a:gd name="connsiteX101" fmla="*/ 89564 w 165309"/>
              <a:gd name="connsiteY101" fmla="*/ 80916 h 206035"/>
              <a:gd name="connsiteX102" fmla="*/ 93055 w 165309"/>
              <a:gd name="connsiteY102" fmla="*/ 80443 h 206035"/>
              <a:gd name="connsiteX103" fmla="*/ 92836 w 165309"/>
              <a:gd name="connsiteY103" fmla="*/ 76807 h 206035"/>
              <a:gd name="connsiteX104" fmla="*/ 90618 w 165309"/>
              <a:gd name="connsiteY104" fmla="*/ 76807 h 206035"/>
              <a:gd name="connsiteX105" fmla="*/ 89564 w 165309"/>
              <a:gd name="connsiteY105" fmla="*/ 77970 h 206035"/>
              <a:gd name="connsiteX106" fmla="*/ 89564 w 165309"/>
              <a:gd name="connsiteY106" fmla="*/ 55279 h 206035"/>
              <a:gd name="connsiteX107" fmla="*/ 92000 w 165309"/>
              <a:gd name="connsiteY107" fmla="*/ 52697 h 206035"/>
              <a:gd name="connsiteX108" fmla="*/ 90145 w 165309"/>
              <a:gd name="connsiteY108" fmla="*/ 49316 h 206035"/>
              <a:gd name="connsiteX109" fmla="*/ 89564 w 165309"/>
              <a:gd name="connsiteY109" fmla="*/ 49643 h 206035"/>
              <a:gd name="connsiteX110" fmla="*/ 89564 w 165309"/>
              <a:gd name="connsiteY110" fmla="*/ 19825 h 206035"/>
              <a:gd name="connsiteX111" fmla="*/ 89564 w 165309"/>
              <a:gd name="connsiteY111" fmla="*/ 19825 h 206035"/>
              <a:gd name="connsiteX112" fmla="*/ 107091 w 165309"/>
              <a:gd name="connsiteY112" fmla="*/ 121716 h 206035"/>
              <a:gd name="connsiteX113" fmla="*/ 100073 w 165309"/>
              <a:gd name="connsiteY113" fmla="*/ 130843 h 206035"/>
              <a:gd name="connsiteX114" fmla="*/ 107091 w 165309"/>
              <a:gd name="connsiteY114" fmla="*/ 133279 h 206035"/>
              <a:gd name="connsiteX115" fmla="*/ 107091 w 165309"/>
              <a:gd name="connsiteY115" fmla="*/ 151388 h 206035"/>
              <a:gd name="connsiteX116" fmla="*/ 104255 w 165309"/>
              <a:gd name="connsiteY116" fmla="*/ 177243 h 206035"/>
              <a:gd name="connsiteX117" fmla="*/ 96073 w 165309"/>
              <a:gd name="connsiteY117" fmla="*/ 193607 h 206035"/>
              <a:gd name="connsiteX118" fmla="*/ 89527 w 165309"/>
              <a:gd name="connsiteY118" fmla="*/ 201097 h 206035"/>
              <a:gd name="connsiteX119" fmla="*/ 89527 w 165309"/>
              <a:gd name="connsiteY119" fmla="*/ 98916 h 206035"/>
              <a:gd name="connsiteX120" fmla="*/ 92691 w 165309"/>
              <a:gd name="connsiteY120" fmla="*/ 98334 h 206035"/>
              <a:gd name="connsiteX121" fmla="*/ 107091 w 165309"/>
              <a:gd name="connsiteY121" fmla="*/ 96334 h 206035"/>
              <a:gd name="connsiteX122" fmla="*/ 107091 w 165309"/>
              <a:gd name="connsiteY122" fmla="*/ 121716 h 206035"/>
              <a:gd name="connsiteX123" fmla="*/ 70000 w 165309"/>
              <a:gd name="connsiteY123" fmla="*/ 15207 h 206035"/>
              <a:gd name="connsiteX124" fmla="*/ 79236 w 165309"/>
              <a:gd name="connsiteY124" fmla="*/ 16261 h 206035"/>
              <a:gd name="connsiteX125" fmla="*/ 89527 w 165309"/>
              <a:gd name="connsiteY125" fmla="*/ 20007 h 206035"/>
              <a:gd name="connsiteX126" fmla="*/ 89527 w 165309"/>
              <a:gd name="connsiteY126" fmla="*/ 49825 h 206035"/>
              <a:gd name="connsiteX127" fmla="*/ 88255 w 165309"/>
              <a:gd name="connsiteY127" fmla="*/ 51097 h 206035"/>
              <a:gd name="connsiteX128" fmla="*/ 87309 w 165309"/>
              <a:gd name="connsiteY128" fmla="*/ 56261 h 206035"/>
              <a:gd name="connsiteX129" fmla="*/ 89527 w 165309"/>
              <a:gd name="connsiteY129" fmla="*/ 55425 h 206035"/>
              <a:gd name="connsiteX130" fmla="*/ 89527 w 165309"/>
              <a:gd name="connsiteY130" fmla="*/ 78116 h 206035"/>
              <a:gd name="connsiteX131" fmla="*/ 88582 w 165309"/>
              <a:gd name="connsiteY131" fmla="*/ 80334 h 206035"/>
              <a:gd name="connsiteX132" fmla="*/ 89527 w 165309"/>
              <a:gd name="connsiteY132" fmla="*/ 81025 h 206035"/>
              <a:gd name="connsiteX133" fmla="*/ 89527 w 165309"/>
              <a:gd name="connsiteY133" fmla="*/ 92152 h 206035"/>
              <a:gd name="connsiteX134" fmla="*/ 77709 w 165309"/>
              <a:gd name="connsiteY134" fmla="*/ 93897 h 206035"/>
              <a:gd name="connsiteX135" fmla="*/ 70473 w 165309"/>
              <a:gd name="connsiteY135" fmla="*/ 96116 h 206035"/>
              <a:gd name="connsiteX136" fmla="*/ 70000 w 165309"/>
              <a:gd name="connsiteY136" fmla="*/ 96370 h 206035"/>
              <a:gd name="connsiteX137" fmla="*/ 70000 w 165309"/>
              <a:gd name="connsiteY137" fmla="*/ 78843 h 206035"/>
              <a:gd name="connsiteX138" fmla="*/ 76182 w 165309"/>
              <a:gd name="connsiteY138" fmla="*/ 72770 h 206035"/>
              <a:gd name="connsiteX139" fmla="*/ 70909 w 165309"/>
              <a:gd name="connsiteY139" fmla="*/ 63279 h 206035"/>
              <a:gd name="connsiteX140" fmla="*/ 69964 w 165309"/>
              <a:gd name="connsiteY140" fmla="*/ 63752 h 206035"/>
              <a:gd name="connsiteX141" fmla="*/ 69964 w 165309"/>
              <a:gd name="connsiteY141" fmla="*/ 49607 h 206035"/>
              <a:gd name="connsiteX142" fmla="*/ 77200 w 165309"/>
              <a:gd name="connsiteY142" fmla="*/ 40479 h 206035"/>
              <a:gd name="connsiteX143" fmla="*/ 69964 w 165309"/>
              <a:gd name="connsiteY143" fmla="*/ 29716 h 206035"/>
              <a:gd name="connsiteX144" fmla="*/ 69964 w 165309"/>
              <a:gd name="connsiteY144" fmla="*/ 15207 h 206035"/>
              <a:gd name="connsiteX145" fmla="*/ 69964 w 165309"/>
              <a:gd name="connsiteY145" fmla="*/ 15207 h 206035"/>
              <a:gd name="connsiteX146" fmla="*/ 89527 w 165309"/>
              <a:gd name="connsiteY146" fmla="*/ 201134 h 206035"/>
              <a:gd name="connsiteX147" fmla="*/ 75273 w 165309"/>
              <a:gd name="connsiteY147" fmla="*/ 204879 h 206035"/>
              <a:gd name="connsiteX148" fmla="*/ 70000 w 165309"/>
              <a:gd name="connsiteY148" fmla="*/ 199243 h 206035"/>
              <a:gd name="connsiteX149" fmla="*/ 70000 w 165309"/>
              <a:gd name="connsiteY149" fmla="*/ 178334 h 206035"/>
              <a:gd name="connsiteX150" fmla="*/ 79709 w 165309"/>
              <a:gd name="connsiteY150" fmla="*/ 175643 h 206035"/>
              <a:gd name="connsiteX151" fmla="*/ 82036 w 165309"/>
              <a:gd name="connsiteY151" fmla="*/ 157861 h 206035"/>
              <a:gd name="connsiteX152" fmla="*/ 72800 w 165309"/>
              <a:gd name="connsiteY152" fmla="*/ 156116 h 206035"/>
              <a:gd name="connsiteX153" fmla="*/ 70000 w 165309"/>
              <a:gd name="connsiteY153" fmla="*/ 156007 h 206035"/>
              <a:gd name="connsiteX154" fmla="*/ 70000 w 165309"/>
              <a:gd name="connsiteY154" fmla="*/ 139643 h 206035"/>
              <a:gd name="connsiteX155" fmla="*/ 74691 w 165309"/>
              <a:gd name="connsiteY155" fmla="*/ 138225 h 206035"/>
              <a:gd name="connsiteX156" fmla="*/ 72473 w 165309"/>
              <a:gd name="connsiteY156" fmla="*/ 129570 h 206035"/>
              <a:gd name="connsiteX157" fmla="*/ 85709 w 165309"/>
              <a:gd name="connsiteY157" fmla="*/ 120697 h 206035"/>
              <a:gd name="connsiteX158" fmla="*/ 89309 w 165309"/>
              <a:gd name="connsiteY158" fmla="*/ 114952 h 206035"/>
              <a:gd name="connsiteX159" fmla="*/ 77164 w 165309"/>
              <a:gd name="connsiteY159" fmla="*/ 116225 h 206035"/>
              <a:gd name="connsiteX160" fmla="*/ 70036 w 165309"/>
              <a:gd name="connsiteY160" fmla="*/ 117970 h 206035"/>
              <a:gd name="connsiteX161" fmla="*/ 70036 w 165309"/>
              <a:gd name="connsiteY161" fmla="*/ 102661 h 206035"/>
              <a:gd name="connsiteX162" fmla="*/ 89564 w 165309"/>
              <a:gd name="connsiteY162" fmla="*/ 98916 h 206035"/>
              <a:gd name="connsiteX163" fmla="*/ 89564 w 165309"/>
              <a:gd name="connsiteY163" fmla="*/ 201097 h 206035"/>
              <a:gd name="connsiteX164" fmla="*/ 29200 w 165309"/>
              <a:gd name="connsiteY164" fmla="*/ 93788 h 206035"/>
              <a:gd name="connsiteX165" fmla="*/ 29673 w 165309"/>
              <a:gd name="connsiteY165" fmla="*/ 51825 h 206035"/>
              <a:gd name="connsiteX166" fmla="*/ 28145 w 165309"/>
              <a:gd name="connsiteY166" fmla="*/ 37316 h 206035"/>
              <a:gd name="connsiteX167" fmla="*/ 34691 w 165309"/>
              <a:gd name="connsiteY167" fmla="*/ 32879 h 206035"/>
              <a:gd name="connsiteX168" fmla="*/ 45818 w 165309"/>
              <a:gd name="connsiteY168" fmla="*/ 47970 h 206035"/>
              <a:gd name="connsiteX169" fmla="*/ 45600 w 165309"/>
              <a:gd name="connsiteY169" fmla="*/ 54879 h 206035"/>
              <a:gd name="connsiteX170" fmla="*/ 44291 w 165309"/>
              <a:gd name="connsiteY170" fmla="*/ 82843 h 206035"/>
              <a:gd name="connsiteX171" fmla="*/ 50982 w 165309"/>
              <a:gd name="connsiteY171" fmla="*/ 84952 h 206035"/>
              <a:gd name="connsiteX172" fmla="*/ 51345 w 165309"/>
              <a:gd name="connsiteY172" fmla="*/ 35025 h 206035"/>
              <a:gd name="connsiteX173" fmla="*/ 51455 w 165309"/>
              <a:gd name="connsiteY173" fmla="*/ 18443 h 206035"/>
              <a:gd name="connsiteX174" fmla="*/ 64655 w 165309"/>
              <a:gd name="connsiteY174" fmla="*/ 19134 h 206035"/>
              <a:gd name="connsiteX175" fmla="*/ 68873 w 165309"/>
              <a:gd name="connsiteY175" fmla="*/ 15607 h 206035"/>
              <a:gd name="connsiteX176" fmla="*/ 70036 w 165309"/>
              <a:gd name="connsiteY176" fmla="*/ 15243 h 206035"/>
              <a:gd name="connsiteX177" fmla="*/ 70036 w 165309"/>
              <a:gd name="connsiteY177" fmla="*/ 29752 h 206035"/>
              <a:gd name="connsiteX178" fmla="*/ 69564 w 165309"/>
              <a:gd name="connsiteY178" fmla="*/ 29861 h 206035"/>
              <a:gd name="connsiteX179" fmla="*/ 68873 w 165309"/>
              <a:gd name="connsiteY179" fmla="*/ 32552 h 206035"/>
              <a:gd name="connsiteX180" fmla="*/ 67236 w 165309"/>
              <a:gd name="connsiteY180" fmla="*/ 50079 h 206035"/>
              <a:gd name="connsiteX181" fmla="*/ 70036 w 165309"/>
              <a:gd name="connsiteY181" fmla="*/ 49607 h 206035"/>
              <a:gd name="connsiteX182" fmla="*/ 70036 w 165309"/>
              <a:gd name="connsiteY182" fmla="*/ 63752 h 206035"/>
              <a:gd name="connsiteX183" fmla="*/ 66400 w 165309"/>
              <a:gd name="connsiteY183" fmla="*/ 68188 h 206035"/>
              <a:gd name="connsiteX184" fmla="*/ 64073 w 165309"/>
              <a:gd name="connsiteY184" fmla="*/ 80479 h 206035"/>
              <a:gd name="connsiteX185" fmla="*/ 70036 w 165309"/>
              <a:gd name="connsiteY185" fmla="*/ 78843 h 206035"/>
              <a:gd name="connsiteX186" fmla="*/ 70036 w 165309"/>
              <a:gd name="connsiteY186" fmla="*/ 96370 h 206035"/>
              <a:gd name="connsiteX187" fmla="*/ 64546 w 165309"/>
              <a:gd name="connsiteY187" fmla="*/ 100697 h 206035"/>
              <a:gd name="connsiteX188" fmla="*/ 55164 w 165309"/>
              <a:gd name="connsiteY188" fmla="*/ 101425 h 206035"/>
              <a:gd name="connsiteX189" fmla="*/ 47345 w 165309"/>
              <a:gd name="connsiteY189" fmla="*/ 102952 h 206035"/>
              <a:gd name="connsiteX190" fmla="*/ 32727 w 165309"/>
              <a:gd name="connsiteY190" fmla="*/ 108552 h 206035"/>
              <a:gd name="connsiteX191" fmla="*/ 25491 w 165309"/>
              <a:gd name="connsiteY191" fmla="*/ 127752 h 206035"/>
              <a:gd name="connsiteX192" fmla="*/ 19782 w 165309"/>
              <a:gd name="connsiteY192" fmla="*/ 138734 h 206035"/>
              <a:gd name="connsiteX193" fmla="*/ 11345 w 165309"/>
              <a:gd name="connsiteY193" fmla="*/ 147134 h 206035"/>
              <a:gd name="connsiteX194" fmla="*/ 0 w 165309"/>
              <a:gd name="connsiteY194" fmla="*/ 136516 h 206035"/>
              <a:gd name="connsiteX195" fmla="*/ 0 w 165309"/>
              <a:gd name="connsiteY195" fmla="*/ 134770 h 206035"/>
              <a:gd name="connsiteX196" fmla="*/ 3855 w 165309"/>
              <a:gd name="connsiteY196" fmla="*/ 116297 h 206035"/>
              <a:gd name="connsiteX197" fmla="*/ 3164 w 165309"/>
              <a:gd name="connsiteY197" fmla="*/ 104734 h 206035"/>
              <a:gd name="connsiteX198" fmla="*/ 7345 w 165309"/>
              <a:gd name="connsiteY198" fmla="*/ 98407 h 206035"/>
              <a:gd name="connsiteX199" fmla="*/ 14000 w 165309"/>
              <a:gd name="connsiteY199" fmla="*/ 94443 h 206035"/>
              <a:gd name="connsiteX200" fmla="*/ 20691 w 165309"/>
              <a:gd name="connsiteY200" fmla="*/ 97134 h 206035"/>
              <a:gd name="connsiteX201" fmla="*/ 29236 w 165309"/>
              <a:gd name="connsiteY201" fmla="*/ 93861 h 206035"/>
              <a:gd name="connsiteX202" fmla="*/ 29236 w 165309"/>
              <a:gd name="connsiteY202" fmla="*/ 93861 h 206035"/>
              <a:gd name="connsiteX203" fmla="*/ 70000 w 165309"/>
              <a:gd name="connsiteY203" fmla="*/ 199243 h 206035"/>
              <a:gd name="connsiteX204" fmla="*/ 63091 w 165309"/>
              <a:gd name="connsiteY204" fmla="*/ 192116 h 206035"/>
              <a:gd name="connsiteX205" fmla="*/ 47564 w 165309"/>
              <a:gd name="connsiteY205" fmla="*/ 181825 h 206035"/>
              <a:gd name="connsiteX206" fmla="*/ 70000 w 165309"/>
              <a:gd name="connsiteY206" fmla="*/ 178334 h 206035"/>
              <a:gd name="connsiteX207" fmla="*/ 70000 w 165309"/>
              <a:gd name="connsiteY207" fmla="*/ 199243 h 206035"/>
              <a:gd name="connsiteX208" fmla="*/ 70000 w 165309"/>
              <a:gd name="connsiteY208" fmla="*/ 199243 h 206035"/>
              <a:gd name="connsiteX209" fmla="*/ 70000 w 165309"/>
              <a:gd name="connsiteY209" fmla="*/ 155970 h 206035"/>
              <a:gd name="connsiteX210" fmla="*/ 70000 w 165309"/>
              <a:gd name="connsiteY210" fmla="*/ 139607 h 206035"/>
              <a:gd name="connsiteX211" fmla="*/ 64727 w 165309"/>
              <a:gd name="connsiteY211" fmla="*/ 139825 h 206035"/>
              <a:gd name="connsiteX212" fmla="*/ 32691 w 165309"/>
              <a:gd name="connsiteY212" fmla="*/ 142297 h 206035"/>
              <a:gd name="connsiteX213" fmla="*/ 29673 w 165309"/>
              <a:gd name="connsiteY213" fmla="*/ 153388 h 206035"/>
              <a:gd name="connsiteX214" fmla="*/ 39018 w 165309"/>
              <a:gd name="connsiteY214" fmla="*/ 160407 h 206035"/>
              <a:gd name="connsiteX215" fmla="*/ 70000 w 165309"/>
              <a:gd name="connsiteY215" fmla="*/ 155970 h 206035"/>
              <a:gd name="connsiteX216" fmla="*/ 70000 w 165309"/>
              <a:gd name="connsiteY216" fmla="*/ 155970 h 206035"/>
              <a:gd name="connsiteX217" fmla="*/ 70000 w 165309"/>
              <a:gd name="connsiteY217" fmla="*/ 117970 h 206035"/>
              <a:gd name="connsiteX218" fmla="*/ 70000 w 165309"/>
              <a:gd name="connsiteY218" fmla="*/ 102661 h 206035"/>
              <a:gd name="connsiteX219" fmla="*/ 58182 w 165309"/>
              <a:gd name="connsiteY219" fmla="*/ 106407 h 206035"/>
              <a:gd name="connsiteX220" fmla="*/ 45200 w 165309"/>
              <a:gd name="connsiteY220" fmla="*/ 113643 h 206035"/>
              <a:gd name="connsiteX221" fmla="*/ 42982 w 165309"/>
              <a:gd name="connsiteY221" fmla="*/ 122625 h 206035"/>
              <a:gd name="connsiteX222" fmla="*/ 60873 w 165309"/>
              <a:gd name="connsiteY222" fmla="*/ 123570 h 206035"/>
              <a:gd name="connsiteX223" fmla="*/ 70000 w 165309"/>
              <a:gd name="connsiteY223" fmla="*/ 117970 h 206035"/>
            </a:gdLst>
            <a:ahLst/>
            <a:cxnLst/>
            <a:rect l="l" t="t" r="r" b="b"/>
            <a:pathLst>
              <a:path w="165309" h="206035">
                <a:moveTo>
                  <a:pt x="112727" y="8952"/>
                </a:moveTo>
                <a:lnTo>
                  <a:pt x="112727" y="9061"/>
                </a:lnTo>
                <a:cubicBezTo>
                  <a:pt x="114836" y="11497"/>
                  <a:pt x="115164" y="14079"/>
                  <a:pt x="112727" y="18297"/>
                </a:cubicBezTo>
                <a:lnTo>
                  <a:pt x="112727" y="8952"/>
                </a:lnTo>
                <a:lnTo>
                  <a:pt x="112727" y="8952"/>
                </a:lnTo>
                <a:close/>
                <a:moveTo>
                  <a:pt x="112727" y="43788"/>
                </a:moveTo>
                <a:cubicBezTo>
                  <a:pt x="116800" y="44843"/>
                  <a:pt x="123018" y="45061"/>
                  <a:pt x="123964" y="45534"/>
                </a:cubicBezTo>
                <a:cubicBezTo>
                  <a:pt x="125600" y="46443"/>
                  <a:pt x="127127" y="43534"/>
                  <a:pt x="124909" y="41788"/>
                </a:cubicBezTo>
                <a:cubicBezTo>
                  <a:pt x="124109" y="41097"/>
                  <a:pt x="121891" y="38988"/>
                  <a:pt x="119418" y="37461"/>
                </a:cubicBezTo>
                <a:cubicBezTo>
                  <a:pt x="117091" y="35934"/>
                  <a:pt x="114618" y="34552"/>
                  <a:pt x="112764" y="33134"/>
                </a:cubicBezTo>
                <a:lnTo>
                  <a:pt x="112764" y="27388"/>
                </a:lnTo>
                <a:cubicBezTo>
                  <a:pt x="114873" y="26697"/>
                  <a:pt x="117927" y="26443"/>
                  <a:pt x="121418" y="26225"/>
                </a:cubicBezTo>
                <a:cubicBezTo>
                  <a:pt x="126000" y="25897"/>
                  <a:pt x="131818" y="21425"/>
                  <a:pt x="135818" y="22734"/>
                </a:cubicBezTo>
                <a:cubicBezTo>
                  <a:pt x="139673" y="23897"/>
                  <a:pt x="142618" y="23534"/>
                  <a:pt x="148218" y="36661"/>
                </a:cubicBezTo>
                <a:cubicBezTo>
                  <a:pt x="149055" y="38988"/>
                  <a:pt x="146582" y="42625"/>
                  <a:pt x="144364" y="46116"/>
                </a:cubicBezTo>
                <a:cubicBezTo>
                  <a:pt x="140982" y="51388"/>
                  <a:pt x="140073" y="56516"/>
                  <a:pt x="136546" y="62152"/>
                </a:cubicBezTo>
                <a:cubicBezTo>
                  <a:pt x="134109" y="66116"/>
                  <a:pt x="127091" y="77825"/>
                  <a:pt x="130800" y="76988"/>
                </a:cubicBezTo>
                <a:cubicBezTo>
                  <a:pt x="144036" y="74188"/>
                  <a:pt x="148218" y="74770"/>
                  <a:pt x="155600" y="81316"/>
                </a:cubicBezTo>
                <a:cubicBezTo>
                  <a:pt x="160291" y="85534"/>
                  <a:pt x="164982" y="88225"/>
                  <a:pt x="165309" y="93134"/>
                </a:cubicBezTo>
                <a:lnTo>
                  <a:pt x="165309" y="94407"/>
                </a:lnTo>
                <a:cubicBezTo>
                  <a:pt x="165309" y="95352"/>
                  <a:pt x="165055" y="96261"/>
                  <a:pt x="164727" y="97316"/>
                </a:cubicBezTo>
                <a:cubicBezTo>
                  <a:pt x="157127" y="110297"/>
                  <a:pt x="139927" y="100479"/>
                  <a:pt x="125091" y="106552"/>
                </a:cubicBezTo>
                <a:cubicBezTo>
                  <a:pt x="122618" y="109352"/>
                  <a:pt x="123455" y="114261"/>
                  <a:pt x="117491" y="116116"/>
                </a:cubicBezTo>
                <a:cubicBezTo>
                  <a:pt x="115964" y="116588"/>
                  <a:pt x="114327" y="117279"/>
                  <a:pt x="112800" y="118116"/>
                </a:cubicBezTo>
                <a:lnTo>
                  <a:pt x="112800" y="95897"/>
                </a:lnTo>
                <a:cubicBezTo>
                  <a:pt x="117964" y="95425"/>
                  <a:pt x="122400" y="95061"/>
                  <a:pt x="125055" y="94843"/>
                </a:cubicBezTo>
                <a:cubicBezTo>
                  <a:pt x="127855" y="94625"/>
                  <a:pt x="129382" y="91461"/>
                  <a:pt x="127164" y="90152"/>
                </a:cubicBezTo>
                <a:cubicBezTo>
                  <a:pt x="126436" y="89679"/>
                  <a:pt x="120618" y="89825"/>
                  <a:pt x="112764" y="90407"/>
                </a:cubicBezTo>
                <a:lnTo>
                  <a:pt x="112764" y="56734"/>
                </a:lnTo>
                <a:cubicBezTo>
                  <a:pt x="115673" y="56952"/>
                  <a:pt x="117673" y="57097"/>
                  <a:pt x="118473" y="55934"/>
                </a:cubicBezTo>
                <a:cubicBezTo>
                  <a:pt x="119418" y="54879"/>
                  <a:pt x="119418" y="52661"/>
                  <a:pt x="118255" y="51716"/>
                </a:cubicBezTo>
                <a:cubicBezTo>
                  <a:pt x="116727" y="51134"/>
                  <a:pt x="114618" y="50770"/>
                  <a:pt x="112764" y="50661"/>
                </a:cubicBezTo>
                <a:lnTo>
                  <a:pt x="112764" y="43752"/>
                </a:lnTo>
                <a:lnTo>
                  <a:pt x="112764" y="43752"/>
                </a:lnTo>
                <a:close/>
                <a:moveTo>
                  <a:pt x="112727" y="132879"/>
                </a:moveTo>
                <a:cubicBezTo>
                  <a:pt x="116582" y="132407"/>
                  <a:pt x="120909" y="131716"/>
                  <a:pt x="124873" y="131243"/>
                </a:cubicBezTo>
                <a:cubicBezTo>
                  <a:pt x="130364" y="130552"/>
                  <a:pt x="133782" y="127497"/>
                  <a:pt x="136000" y="129134"/>
                </a:cubicBezTo>
                <a:cubicBezTo>
                  <a:pt x="142327" y="133934"/>
                  <a:pt x="143346" y="134625"/>
                  <a:pt x="146509" y="143643"/>
                </a:cubicBezTo>
                <a:cubicBezTo>
                  <a:pt x="149309" y="151607"/>
                  <a:pt x="137745" y="154407"/>
                  <a:pt x="131673" y="153025"/>
                </a:cubicBezTo>
                <a:cubicBezTo>
                  <a:pt x="122545" y="150807"/>
                  <a:pt x="120109" y="149497"/>
                  <a:pt x="112727" y="150225"/>
                </a:cubicBezTo>
                <a:lnTo>
                  <a:pt x="112727" y="132916"/>
                </a:lnTo>
                <a:close/>
                <a:moveTo>
                  <a:pt x="107127" y="2952"/>
                </a:moveTo>
                <a:cubicBezTo>
                  <a:pt x="109455" y="4843"/>
                  <a:pt x="111455" y="7279"/>
                  <a:pt x="112727" y="8916"/>
                </a:cubicBezTo>
                <a:lnTo>
                  <a:pt x="112727" y="18261"/>
                </a:lnTo>
                <a:cubicBezTo>
                  <a:pt x="111564" y="20370"/>
                  <a:pt x="109818" y="22807"/>
                  <a:pt x="107127" y="25752"/>
                </a:cubicBezTo>
                <a:lnTo>
                  <a:pt x="107127" y="2952"/>
                </a:lnTo>
                <a:lnTo>
                  <a:pt x="107127" y="2952"/>
                </a:lnTo>
                <a:close/>
                <a:moveTo>
                  <a:pt x="107127" y="34625"/>
                </a:moveTo>
                <a:cubicBezTo>
                  <a:pt x="108764" y="35788"/>
                  <a:pt x="110145" y="37207"/>
                  <a:pt x="109345" y="40952"/>
                </a:cubicBezTo>
                <a:cubicBezTo>
                  <a:pt x="108982" y="42225"/>
                  <a:pt x="110618" y="43170"/>
                  <a:pt x="112727" y="43752"/>
                </a:cubicBezTo>
                <a:lnTo>
                  <a:pt x="112727" y="50661"/>
                </a:lnTo>
                <a:cubicBezTo>
                  <a:pt x="110836" y="50443"/>
                  <a:pt x="108982" y="50443"/>
                  <a:pt x="108036" y="50552"/>
                </a:cubicBezTo>
                <a:cubicBezTo>
                  <a:pt x="107673" y="50661"/>
                  <a:pt x="107345" y="50807"/>
                  <a:pt x="107127" y="50916"/>
                </a:cubicBezTo>
                <a:lnTo>
                  <a:pt x="107127" y="34661"/>
                </a:lnTo>
                <a:lnTo>
                  <a:pt x="107127" y="34661"/>
                </a:lnTo>
                <a:close/>
                <a:moveTo>
                  <a:pt x="112727" y="33097"/>
                </a:moveTo>
                <a:cubicBezTo>
                  <a:pt x="111418" y="32043"/>
                  <a:pt x="110509" y="31097"/>
                  <a:pt x="110255" y="30152"/>
                </a:cubicBezTo>
                <a:cubicBezTo>
                  <a:pt x="110036" y="28879"/>
                  <a:pt x="110945" y="27934"/>
                  <a:pt x="112727" y="27352"/>
                </a:cubicBezTo>
                <a:lnTo>
                  <a:pt x="112727" y="33097"/>
                </a:lnTo>
                <a:lnTo>
                  <a:pt x="112727" y="33097"/>
                </a:lnTo>
                <a:close/>
                <a:moveTo>
                  <a:pt x="112727" y="118079"/>
                </a:moveTo>
                <a:cubicBezTo>
                  <a:pt x="110727" y="119134"/>
                  <a:pt x="108873" y="120443"/>
                  <a:pt x="107127" y="121716"/>
                </a:cubicBezTo>
                <a:lnTo>
                  <a:pt x="107127" y="96334"/>
                </a:lnTo>
                <a:cubicBezTo>
                  <a:pt x="109127" y="96079"/>
                  <a:pt x="110982" y="95970"/>
                  <a:pt x="112727" y="95861"/>
                </a:cubicBezTo>
                <a:lnTo>
                  <a:pt x="112727" y="118079"/>
                </a:lnTo>
                <a:lnTo>
                  <a:pt x="112727" y="118079"/>
                </a:lnTo>
                <a:close/>
                <a:moveTo>
                  <a:pt x="107127" y="133279"/>
                </a:moveTo>
                <a:cubicBezTo>
                  <a:pt x="108873" y="133279"/>
                  <a:pt x="110764" y="133061"/>
                  <a:pt x="112727" y="132807"/>
                </a:cubicBezTo>
                <a:lnTo>
                  <a:pt x="112727" y="150116"/>
                </a:lnTo>
                <a:cubicBezTo>
                  <a:pt x="111418" y="150334"/>
                  <a:pt x="109927" y="150588"/>
                  <a:pt x="108146" y="150807"/>
                </a:cubicBezTo>
                <a:cubicBezTo>
                  <a:pt x="107782" y="150916"/>
                  <a:pt x="107418" y="151025"/>
                  <a:pt x="107091" y="151388"/>
                </a:cubicBezTo>
                <a:lnTo>
                  <a:pt x="107091" y="133279"/>
                </a:lnTo>
                <a:lnTo>
                  <a:pt x="107091" y="133279"/>
                </a:lnTo>
                <a:close/>
                <a:moveTo>
                  <a:pt x="112727" y="90370"/>
                </a:moveTo>
                <a:cubicBezTo>
                  <a:pt x="110982" y="90479"/>
                  <a:pt x="109091" y="90625"/>
                  <a:pt x="107127" y="90697"/>
                </a:cubicBezTo>
                <a:lnTo>
                  <a:pt x="107127" y="75388"/>
                </a:lnTo>
                <a:cubicBezTo>
                  <a:pt x="107818" y="75388"/>
                  <a:pt x="108291" y="75279"/>
                  <a:pt x="108618" y="74916"/>
                </a:cubicBezTo>
                <a:cubicBezTo>
                  <a:pt x="109564" y="73970"/>
                  <a:pt x="111309" y="73061"/>
                  <a:pt x="109782" y="71534"/>
                </a:cubicBezTo>
                <a:cubicBezTo>
                  <a:pt x="109164" y="70843"/>
                  <a:pt x="108618" y="70588"/>
                  <a:pt x="107091" y="70734"/>
                </a:cubicBezTo>
                <a:lnTo>
                  <a:pt x="107091" y="55643"/>
                </a:lnTo>
                <a:cubicBezTo>
                  <a:pt x="107673" y="56370"/>
                  <a:pt x="109636" y="56952"/>
                  <a:pt x="111636" y="56697"/>
                </a:cubicBezTo>
                <a:lnTo>
                  <a:pt x="112691" y="56697"/>
                </a:lnTo>
                <a:lnTo>
                  <a:pt x="112691" y="90370"/>
                </a:lnTo>
                <a:close/>
                <a:moveTo>
                  <a:pt x="89564" y="19970"/>
                </a:moveTo>
                <a:cubicBezTo>
                  <a:pt x="90255" y="19607"/>
                  <a:pt x="90945" y="19134"/>
                  <a:pt x="91527" y="18588"/>
                </a:cubicBezTo>
                <a:cubicBezTo>
                  <a:pt x="95964" y="14043"/>
                  <a:pt x="91164" y="952"/>
                  <a:pt x="100182" y="7"/>
                </a:cubicBezTo>
                <a:cubicBezTo>
                  <a:pt x="102618" y="-103"/>
                  <a:pt x="105091" y="1170"/>
                  <a:pt x="107091" y="2916"/>
                </a:cubicBezTo>
                <a:lnTo>
                  <a:pt x="107091" y="25716"/>
                </a:lnTo>
                <a:cubicBezTo>
                  <a:pt x="106618" y="26297"/>
                  <a:pt x="106036" y="26879"/>
                  <a:pt x="105564" y="27570"/>
                </a:cubicBezTo>
                <a:cubicBezTo>
                  <a:pt x="105091" y="27934"/>
                  <a:pt x="104509" y="28297"/>
                  <a:pt x="104145" y="31097"/>
                </a:cubicBezTo>
                <a:cubicBezTo>
                  <a:pt x="104400" y="32952"/>
                  <a:pt x="105782" y="33679"/>
                  <a:pt x="107091" y="34588"/>
                </a:cubicBezTo>
                <a:lnTo>
                  <a:pt x="107091" y="50843"/>
                </a:lnTo>
                <a:cubicBezTo>
                  <a:pt x="105782" y="51679"/>
                  <a:pt x="106509" y="53788"/>
                  <a:pt x="106945" y="55388"/>
                </a:cubicBezTo>
                <a:cubicBezTo>
                  <a:pt x="106945" y="55388"/>
                  <a:pt x="107091" y="55497"/>
                  <a:pt x="107091" y="55607"/>
                </a:cubicBezTo>
                <a:lnTo>
                  <a:pt x="107091" y="70697"/>
                </a:lnTo>
                <a:lnTo>
                  <a:pt x="106618" y="70697"/>
                </a:lnTo>
                <a:cubicBezTo>
                  <a:pt x="104145" y="71170"/>
                  <a:pt x="104618" y="71861"/>
                  <a:pt x="103927" y="74188"/>
                </a:cubicBezTo>
                <a:cubicBezTo>
                  <a:pt x="104036" y="74770"/>
                  <a:pt x="105782" y="75352"/>
                  <a:pt x="107091" y="75352"/>
                </a:cubicBezTo>
                <a:lnTo>
                  <a:pt x="107091" y="90661"/>
                </a:lnTo>
                <a:cubicBezTo>
                  <a:pt x="104873" y="90916"/>
                  <a:pt x="102400" y="91025"/>
                  <a:pt x="100073" y="91243"/>
                </a:cubicBezTo>
                <a:cubicBezTo>
                  <a:pt x="96582" y="91461"/>
                  <a:pt x="93055" y="91716"/>
                  <a:pt x="89564" y="92043"/>
                </a:cubicBezTo>
                <a:lnTo>
                  <a:pt x="89564" y="80916"/>
                </a:lnTo>
                <a:cubicBezTo>
                  <a:pt x="90727" y="81279"/>
                  <a:pt x="92364" y="81170"/>
                  <a:pt x="93055" y="80443"/>
                </a:cubicBezTo>
                <a:cubicBezTo>
                  <a:pt x="95055" y="78334"/>
                  <a:pt x="95164" y="77752"/>
                  <a:pt x="92836" y="76807"/>
                </a:cubicBezTo>
                <a:cubicBezTo>
                  <a:pt x="92727" y="77025"/>
                  <a:pt x="91891" y="75388"/>
                  <a:pt x="90618" y="76807"/>
                </a:cubicBezTo>
                <a:cubicBezTo>
                  <a:pt x="90145" y="77388"/>
                  <a:pt x="89818" y="77752"/>
                  <a:pt x="89564" y="77970"/>
                </a:cubicBezTo>
                <a:lnTo>
                  <a:pt x="89564" y="55279"/>
                </a:lnTo>
                <a:cubicBezTo>
                  <a:pt x="90727" y="54588"/>
                  <a:pt x="91891" y="53534"/>
                  <a:pt x="92000" y="52697"/>
                </a:cubicBezTo>
                <a:cubicBezTo>
                  <a:pt x="92364" y="49897"/>
                  <a:pt x="92473" y="48734"/>
                  <a:pt x="90145" y="49316"/>
                </a:cubicBezTo>
                <a:cubicBezTo>
                  <a:pt x="90145" y="49425"/>
                  <a:pt x="89927" y="49534"/>
                  <a:pt x="89564" y="49643"/>
                </a:cubicBezTo>
                <a:lnTo>
                  <a:pt x="89564" y="19825"/>
                </a:lnTo>
                <a:lnTo>
                  <a:pt x="89564" y="19825"/>
                </a:lnTo>
                <a:close/>
                <a:moveTo>
                  <a:pt x="107091" y="121716"/>
                </a:moveTo>
                <a:cubicBezTo>
                  <a:pt x="103127" y="124988"/>
                  <a:pt x="100182" y="128625"/>
                  <a:pt x="100073" y="130843"/>
                </a:cubicBezTo>
                <a:cubicBezTo>
                  <a:pt x="99964" y="133061"/>
                  <a:pt x="102873" y="133534"/>
                  <a:pt x="107091" y="133279"/>
                </a:cubicBezTo>
                <a:lnTo>
                  <a:pt x="107091" y="151388"/>
                </a:lnTo>
                <a:cubicBezTo>
                  <a:pt x="104036" y="154552"/>
                  <a:pt x="107091" y="170116"/>
                  <a:pt x="104255" y="177243"/>
                </a:cubicBezTo>
                <a:cubicBezTo>
                  <a:pt x="102036" y="182625"/>
                  <a:pt x="98982" y="189170"/>
                  <a:pt x="96073" y="193607"/>
                </a:cubicBezTo>
                <a:cubicBezTo>
                  <a:pt x="94073" y="196516"/>
                  <a:pt x="91855" y="199097"/>
                  <a:pt x="89527" y="201097"/>
                </a:cubicBezTo>
                <a:lnTo>
                  <a:pt x="89527" y="98916"/>
                </a:lnTo>
                <a:lnTo>
                  <a:pt x="92691" y="98334"/>
                </a:lnTo>
                <a:cubicBezTo>
                  <a:pt x="97382" y="97497"/>
                  <a:pt x="102400" y="96807"/>
                  <a:pt x="107091" y="96334"/>
                </a:cubicBezTo>
                <a:lnTo>
                  <a:pt x="107091" y="121716"/>
                </a:lnTo>
                <a:close/>
                <a:moveTo>
                  <a:pt x="70000" y="15207"/>
                </a:moveTo>
                <a:cubicBezTo>
                  <a:pt x="73491" y="14261"/>
                  <a:pt x="77382" y="14625"/>
                  <a:pt x="79236" y="16261"/>
                </a:cubicBezTo>
                <a:cubicBezTo>
                  <a:pt x="82291" y="18952"/>
                  <a:pt x="86145" y="21388"/>
                  <a:pt x="89527" y="20007"/>
                </a:cubicBezTo>
                <a:lnTo>
                  <a:pt x="89527" y="49825"/>
                </a:lnTo>
                <a:cubicBezTo>
                  <a:pt x="89164" y="49934"/>
                  <a:pt x="88582" y="50188"/>
                  <a:pt x="88255" y="51097"/>
                </a:cubicBezTo>
                <a:cubicBezTo>
                  <a:pt x="87091" y="53425"/>
                  <a:pt x="86618" y="53897"/>
                  <a:pt x="87309" y="56261"/>
                </a:cubicBezTo>
                <a:cubicBezTo>
                  <a:pt x="87636" y="56479"/>
                  <a:pt x="88582" y="56152"/>
                  <a:pt x="89527" y="55425"/>
                </a:cubicBezTo>
                <a:lnTo>
                  <a:pt x="89527" y="78116"/>
                </a:lnTo>
                <a:cubicBezTo>
                  <a:pt x="89211" y="78504"/>
                  <a:pt x="88898" y="79243"/>
                  <a:pt x="88582" y="80334"/>
                </a:cubicBezTo>
                <a:cubicBezTo>
                  <a:pt x="88582" y="80697"/>
                  <a:pt x="89055" y="80916"/>
                  <a:pt x="89527" y="81025"/>
                </a:cubicBezTo>
                <a:lnTo>
                  <a:pt x="89527" y="92152"/>
                </a:lnTo>
                <a:cubicBezTo>
                  <a:pt x="85418" y="92625"/>
                  <a:pt x="81455" y="93097"/>
                  <a:pt x="77709" y="93897"/>
                </a:cubicBezTo>
                <a:cubicBezTo>
                  <a:pt x="76182" y="94261"/>
                  <a:pt x="73018" y="94479"/>
                  <a:pt x="70473" y="96116"/>
                </a:cubicBezTo>
                <a:cubicBezTo>
                  <a:pt x="70364" y="96116"/>
                  <a:pt x="70109" y="96225"/>
                  <a:pt x="70000" y="96370"/>
                </a:cubicBezTo>
                <a:lnTo>
                  <a:pt x="70000" y="78843"/>
                </a:lnTo>
                <a:cubicBezTo>
                  <a:pt x="72909" y="77207"/>
                  <a:pt x="75855" y="74625"/>
                  <a:pt x="76182" y="72770"/>
                </a:cubicBezTo>
                <a:cubicBezTo>
                  <a:pt x="76982" y="65497"/>
                  <a:pt x="76873" y="61788"/>
                  <a:pt x="70909" y="63279"/>
                </a:cubicBezTo>
                <a:cubicBezTo>
                  <a:pt x="70909" y="63534"/>
                  <a:pt x="70545" y="63643"/>
                  <a:pt x="69964" y="63752"/>
                </a:cubicBezTo>
                <a:lnTo>
                  <a:pt x="69964" y="49607"/>
                </a:lnTo>
                <a:cubicBezTo>
                  <a:pt x="72873" y="47970"/>
                  <a:pt x="76618" y="43970"/>
                  <a:pt x="77200" y="40479"/>
                </a:cubicBezTo>
                <a:cubicBezTo>
                  <a:pt x="77891" y="33461"/>
                  <a:pt x="75564" y="28552"/>
                  <a:pt x="69964" y="29716"/>
                </a:cubicBezTo>
                <a:lnTo>
                  <a:pt x="69964" y="15207"/>
                </a:lnTo>
                <a:lnTo>
                  <a:pt x="69964" y="15207"/>
                </a:lnTo>
                <a:close/>
                <a:moveTo>
                  <a:pt x="89527" y="201134"/>
                </a:moveTo>
                <a:cubicBezTo>
                  <a:pt x="84036" y="205825"/>
                  <a:pt x="78436" y="207316"/>
                  <a:pt x="75273" y="204879"/>
                </a:cubicBezTo>
                <a:cubicBezTo>
                  <a:pt x="74073" y="203934"/>
                  <a:pt x="72436" y="201970"/>
                  <a:pt x="70000" y="199243"/>
                </a:cubicBezTo>
                <a:lnTo>
                  <a:pt x="70000" y="178334"/>
                </a:lnTo>
                <a:cubicBezTo>
                  <a:pt x="74800" y="177970"/>
                  <a:pt x="78764" y="177388"/>
                  <a:pt x="79709" y="175643"/>
                </a:cubicBezTo>
                <a:cubicBezTo>
                  <a:pt x="82982" y="170043"/>
                  <a:pt x="82727" y="164516"/>
                  <a:pt x="82036" y="157861"/>
                </a:cubicBezTo>
                <a:cubicBezTo>
                  <a:pt x="82146" y="155316"/>
                  <a:pt x="78545" y="156807"/>
                  <a:pt x="72800" y="156116"/>
                </a:cubicBezTo>
                <a:cubicBezTo>
                  <a:pt x="71855" y="156007"/>
                  <a:pt x="71018" y="156007"/>
                  <a:pt x="70000" y="156007"/>
                </a:cubicBezTo>
                <a:lnTo>
                  <a:pt x="70000" y="139643"/>
                </a:lnTo>
                <a:cubicBezTo>
                  <a:pt x="72000" y="139534"/>
                  <a:pt x="73746" y="139316"/>
                  <a:pt x="74691" y="138225"/>
                </a:cubicBezTo>
                <a:cubicBezTo>
                  <a:pt x="77273" y="135316"/>
                  <a:pt x="72000" y="132261"/>
                  <a:pt x="72473" y="129570"/>
                </a:cubicBezTo>
                <a:cubicBezTo>
                  <a:pt x="73055" y="125025"/>
                  <a:pt x="84509" y="123716"/>
                  <a:pt x="85709" y="120697"/>
                </a:cubicBezTo>
                <a:cubicBezTo>
                  <a:pt x="86873" y="117207"/>
                  <a:pt x="88873" y="119061"/>
                  <a:pt x="89309" y="114952"/>
                </a:cubicBezTo>
                <a:cubicBezTo>
                  <a:pt x="89673" y="111097"/>
                  <a:pt x="80800" y="115170"/>
                  <a:pt x="77164" y="116225"/>
                </a:cubicBezTo>
                <a:cubicBezTo>
                  <a:pt x="74473" y="117025"/>
                  <a:pt x="72255" y="117388"/>
                  <a:pt x="70036" y="117970"/>
                </a:cubicBezTo>
                <a:lnTo>
                  <a:pt x="70036" y="102661"/>
                </a:lnTo>
                <a:cubicBezTo>
                  <a:pt x="75527" y="101388"/>
                  <a:pt x="82182" y="100079"/>
                  <a:pt x="89564" y="98916"/>
                </a:cubicBezTo>
                <a:lnTo>
                  <a:pt x="89564" y="201097"/>
                </a:lnTo>
                <a:close/>
                <a:moveTo>
                  <a:pt x="29200" y="93788"/>
                </a:moveTo>
                <a:cubicBezTo>
                  <a:pt x="31782" y="91679"/>
                  <a:pt x="31091" y="61170"/>
                  <a:pt x="29673" y="51825"/>
                </a:cubicBezTo>
                <a:cubicBezTo>
                  <a:pt x="27927" y="47134"/>
                  <a:pt x="27455" y="40697"/>
                  <a:pt x="28145" y="37316"/>
                </a:cubicBezTo>
                <a:cubicBezTo>
                  <a:pt x="29091" y="32516"/>
                  <a:pt x="31673" y="31352"/>
                  <a:pt x="34691" y="32879"/>
                </a:cubicBezTo>
                <a:cubicBezTo>
                  <a:pt x="38073" y="34625"/>
                  <a:pt x="41818" y="39788"/>
                  <a:pt x="45818" y="47970"/>
                </a:cubicBezTo>
                <a:cubicBezTo>
                  <a:pt x="48509" y="53570"/>
                  <a:pt x="45600" y="52770"/>
                  <a:pt x="45600" y="54879"/>
                </a:cubicBezTo>
                <a:cubicBezTo>
                  <a:pt x="45382" y="65279"/>
                  <a:pt x="44436" y="75825"/>
                  <a:pt x="44291" y="82843"/>
                </a:cubicBezTo>
                <a:cubicBezTo>
                  <a:pt x="44291" y="87061"/>
                  <a:pt x="50036" y="87497"/>
                  <a:pt x="50982" y="84952"/>
                </a:cubicBezTo>
                <a:cubicBezTo>
                  <a:pt x="51927" y="67861"/>
                  <a:pt x="49818" y="45097"/>
                  <a:pt x="51345" y="35025"/>
                </a:cubicBezTo>
                <a:cubicBezTo>
                  <a:pt x="51564" y="28588"/>
                  <a:pt x="48764" y="20407"/>
                  <a:pt x="51455" y="18443"/>
                </a:cubicBezTo>
                <a:cubicBezTo>
                  <a:pt x="54509" y="16116"/>
                  <a:pt x="61491" y="17497"/>
                  <a:pt x="64655" y="19134"/>
                </a:cubicBezTo>
                <a:cubicBezTo>
                  <a:pt x="67127" y="20407"/>
                  <a:pt x="66982" y="16188"/>
                  <a:pt x="68873" y="15607"/>
                </a:cubicBezTo>
                <a:cubicBezTo>
                  <a:pt x="69236" y="15388"/>
                  <a:pt x="69709" y="15243"/>
                  <a:pt x="70036" y="15243"/>
                </a:cubicBezTo>
                <a:lnTo>
                  <a:pt x="70036" y="29752"/>
                </a:lnTo>
                <a:cubicBezTo>
                  <a:pt x="70036" y="29752"/>
                  <a:pt x="69782" y="29861"/>
                  <a:pt x="69564" y="29861"/>
                </a:cubicBezTo>
                <a:cubicBezTo>
                  <a:pt x="68618" y="30661"/>
                  <a:pt x="68873" y="31861"/>
                  <a:pt x="68873" y="32552"/>
                </a:cubicBezTo>
                <a:cubicBezTo>
                  <a:pt x="68182" y="38988"/>
                  <a:pt x="67127" y="44152"/>
                  <a:pt x="67236" y="50079"/>
                </a:cubicBezTo>
                <a:cubicBezTo>
                  <a:pt x="67673" y="50552"/>
                  <a:pt x="68873" y="50334"/>
                  <a:pt x="70036" y="49607"/>
                </a:cubicBezTo>
                <a:lnTo>
                  <a:pt x="70036" y="63752"/>
                </a:lnTo>
                <a:cubicBezTo>
                  <a:pt x="68727" y="64116"/>
                  <a:pt x="66655" y="64807"/>
                  <a:pt x="66400" y="68188"/>
                </a:cubicBezTo>
                <a:cubicBezTo>
                  <a:pt x="65927" y="74625"/>
                  <a:pt x="62073" y="74516"/>
                  <a:pt x="64073" y="80479"/>
                </a:cubicBezTo>
                <a:cubicBezTo>
                  <a:pt x="64873" y="81170"/>
                  <a:pt x="67455" y="80370"/>
                  <a:pt x="70036" y="78843"/>
                </a:cubicBezTo>
                <a:lnTo>
                  <a:pt x="70036" y="96370"/>
                </a:lnTo>
                <a:cubicBezTo>
                  <a:pt x="68291" y="97752"/>
                  <a:pt x="66873" y="100334"/>
                  <a:pt x="64546" y="100697"/>
                </a:cubicBezTo>
                <a:cubicBezTo>
                  <a:pt x="60545" y="101279"/>
                  <a:pt x="57309" y="101061"/>
                  <a:pt x="55164" y="101425"/>
                </a:cubicBezTo>
                <a:cubicBezTo>
                  <a:pt x="52255" y="101788"/>
                  <a:pt x="50727" y="102479"/>
                  <a:pt x="47345" y="102952"/>
                </a:cubicBezTo>
                <a:cubicBezTo>
                  <a:pt x="44291" y="103425"/>
                  <a:pt x="37273" y="104588"/>
                  <a:pt x="32727" y="108552"/>
                </a:cubicBezTo>
                <a:cubicBezTo>
                  <a:pt x="28400" y="112297"/>
                  <a:pt x="27818" y="123170"/>
                  <a:pt x="25491" y="127752"/>
                </a:cubicBezTo>
                <a:cubicBezTo>
                  <a:pt x="23491" y="131607"/>
                  <a:pt x="21382" y="135461"/>
                  <a:pt x="19782" y="138734"/>
                </a:cubicBezTo>
                <a:cubicBezTo>
                  <a:pt x="17564" y="142807"/>
                  <a:pt x="15673" y="146116"/>
                  <a:pt x="11345" y="147134"/>
                </a:cubicBezTo>
                <a:cubicBezTo>
                  <a:pt x="5382" y="148552"/>
                  <a:pt x="582" y="141170"/>
                  <a:pt x="0" y="136516"/>
                </a:cubicBezTo>
                <a:lnTo>
                  <a:pt x="0" y="134770"/>
                </a:lnTo>
                <a:cubicBezTo>
                  <a:pt x="1745" y="128007"/>
                  <a:pt x="3273" y="122479"/>
                  <a:pt x="3855" y="116297"/>
                </a:cubicBezTo>
                <a:cubicBezTo>
                  <a:pt x="4182" y="112079"/>
                  <a:pt x="2691" y="108116"/>
                  <a:pt x="3164" y="104734"/>
                </a:cubicBezTo>
                <a:cubicBezTo>
                  <a:pt x="3636" y="101461"/>
                  <a:pt x="5854" y="100043"/>
                  <a:pt x="7345" y="98407"/>
                </a:cubicBezTo>
                <a:cubicBezTo>
                  <a:pt x="9127" y="96297"/>
                  <a:pt x="10873" y="93861"/>
                  <a:pt x="14000" y="94443"/>
                </a:cubicBezTo>
                <a:cubicBezTo>
                  <a:pt x="16582" y="94916"/>
                  <a:pt x="18109" y="96879"/>
                  <a:pt x="20691" y="97134"/>
                </a:cubicBezTo>
                <a:cubicBezTo>
                  <a:pt x="24545" y="97607"/>
                  <a:pt x="26545" y="96079"/>
                  <a:pt x="29236" y="93861"/>
                </a:cubicBezTo>
                <a:lnTo>
                  <a:pt x="29236" y="93861"/>
                </a:lnTo>
                <a:close/>
                <a:moveTo>
                  <a:pt x="70000" y="199243"/>
                </a:moveTo>
                <a:cubicBezTo>
                  <a:pt x="68145" y="197134"/>
                  <a:pt x="65891" y="194697"/>
                  <a:pt x="63091" y="192116"/>
                </a:cubicBezTo>
                <a:cubicBezTo>
                  <a:pt x="58800" y="188261"/>
                  <a:pt x="51418" y="185461"/>
                  <a:pt x="47564" y="181825"/>
                </a:cubicBezTo>
                <a:cubicBezTo>
                  <a:pt x="45091" y="177752"/>
                  <a:pt x="59600" y="178879"/>
                  <a:pt x="70000" y="178334"/>
                </a:cubicBezTo>
                <a:lnTo>
                  <a:pt x="70000" y="199243"/>
                </a:lnTo>
                <a:lnTo>
                  <a:pt x="70000" y="199243"/>
                </a:lnTo>
                <a:close/>
                <a:moveTo>
                  <a:pt x="70000" y="155970"/>
                </a:moveTo>
                <a:lnTo>
                  <a:pt x="70000" y="139607"/>
                </a:lnTo>
                <a:cubicBezTo>
                  <a:pt x="68255" y="139716"/>
                  <a:pt x="66255" y="139716"/>
                  <a:pt x="64727" y="139825"/>
                </a:cubicBezTo>
                <a:cubicBezTo>
                  <a:pt x="54800" y="141097"/>
                  <a:pt x="42145" y="139825"/>
                  <a:pt x="32691" y="142297"/>
                </a:cubicBezTo>
                <a:cubicBezTo>
                  <a:pt x="22873" y="144988"/>
                  <a:pt x="24982" y="149097"/>
                  <a:pt x="29673" y="153388"/>
                </a:cubicBezTo>
                <a:cubicBezTo>
                  <a:pt x="32000" y="155607"/>
                  <a:pt x="32691" y="157243"/>
                  <a:pt x="39018" y="160407"/>
                </a:cubicBezTo>
                <a:cubicBezTo>
                  <a:pt x="45236" y="163461"/>
                  <a:pt x="60073" y="156334"/>
                  <a:pt x="70000" y="155970"/>
                </a:cubicBezTo>
                <a:lnTo>
                  <a:pt x="70000" y="155970"/>
                </a:lnTo>
                <a:close/>
                <a:moveTo>
                  <a:pt x="70000" y="117970"/>
                </a:moveTo>
                <a:lnTo>
                  <a:pt x="70000" y="102661"/>
                </a:lnTo>
                <a:cubicBezTo>
                  <a:pt x="65091" y="103825"/>
                  <a:pt x="60982" y="104988"/>
                  <a:pt x="58182" y="106407"/>
                </a:cubicBezTo>
                <a:cubicBezTo>
                  <a:pt x="55491" y="107679"/>
                  <a:pt x="47891" y="112152"/>
                  <a:pt x="45200" y="113643"/>
                </a:cubicBezTo>
                <a:cubicBezTo>
                  <a:pt x="38764" y="117388"/>
                  <a:pt x="40182" y="120188"/>
                  <a:pt x="42982" y="122625"/>
                </a:cubicBezTo>
                <a:cubicBezTo>
                  <a:pt x="49636" y="128225"/>
                  <a:pt x="59127" y="125425"/>
                  <a:pt x="60873" y="123570"/>
                </a:cubicBezTo>
                <a:cubicBezTo>
                  <a:pt x="64255" y="119970"/>
                  <a:pt x="67091" y="118770"/>
                  <a:pt x="70000" y="117970"/>
                </a:cubicBezTo>
                <a:close/>
              </a:path>
            </a:pathLst>
          </a:custGeom>
          <a:solidFill>
            <a:schemeClr val="bg1"/>
          </a:solidFill>
          <a:ln w="3627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56" name="任意多边形: 形状 55"/>
          <p:cNvSpPr>
            <a:spLocks noGrp="1"/>
          </p:cNvSpPr>
          <p:nvPr/>
        </p:nvSpPr>
        <p:spPr>
          <a:xfrm>
            <a:off x="1604699" y="2040855"/>
            <a:ext cx="386877" cy="343627"/>
          </a:xfrm>
          <a:custGeom>
            <a:avLst/>
            <a:gdLst>
              <a:gd name="connsiteX0" fmla="*/ 42496 w 178566"/>
              <a:gd name="connsiteY0" fmla="*/ 46575 h 158604"/>
              <a:gd name="connsiteX1" fmla="*/ 57006 w 178566"/>
              <a:gd name="connsiteY1" fmla="*/ 44247 h 158604"/>
              <a:gd name="connsiteX2" fmla="*/ 55260 w 178566"/>
              <a:gd name="connsiteY2" fmla="*/ 14793 h 158604"/>
              <a:gd name="connsiteX3" fmla="*/ 60387 w 178566"/>
              <a:gd name="connsiteY3" fmla="*/ 5229 h 158604"/>
              <a:gd name="connsiteX4" fmla="*/ 72460 w 178566"/>
              <a:gd name="connsiteY4" fmla="*/ 66 h 158604"/>
              <a:gd name="connsiteX5" fmla="*/ 88351 w 178566"/>
              <a:gd name="connsiteY5" fmla="*/ 11047 h 158604"/>
              <a:gd name="connsiteX6" fmla="*/ 89733 w 178566"/>
              <a:gd name="connsiteY6" fmla="*/ 25666 h 158604"/>
              <a:gd name="connsiteX7" fmla="*/ 90787 w 178566"/>
              <a:gd name="connsiteY7" fmla="*/ 35629 h 158604"/>
              <a:gd name="connsiteX8" fmla="*/ 103878 w 178566"/>
              <a:gd name="connsiteY8" fmla="*/ 34211 h 158604"/>
              <a:gd name="connsiteX9" fmla="*/ 126678 w 178566"/>
              <a:gd name="connsiteY9" fmla="*/ 37847 h 158604"/>
              <a:gd name="connsiteX10" fmla="*/ 127478 w 178566"/>
              <a:gd name="connsiteY10" fmla="*/ 45775 h 158604"/>
              <a:gd name="connsiteX11" fmla="*/ 109696 w 178566"/>
              <a:gd name="connsiteY11" fmla="*/ 56429 h 158604"/>
              <a:gd name="connsiteX12" fmla="*/ 85042 w 178566"/>
              <a:gd name="connsiteY12" fmla="*/ 70575 h 158604"/>
              <a:gd name="connsiteX13" fmla="*/ 136242 w 178566"/>
              <a:gd name="connsiteY13" fmla="*/ 130902 h 158604"/>
              <a:gd name="connsiteX14" fmla="*/ 159406 w 178566"/>
              <a:gd name="connsiteY14" fmla="*/ 141556 h 158604"/>
              <a:gd name="connsiteX15" fmla="*/ 176715 w 178566"/>
              <a:gd name="connsiteY15" fmla="*/ 151011 h 158604"/>
              <a:gd name="connsiteX16" fmla="*/ 120715 w 178566"/>
              <a:gd name="connsiteY16" fmla="*/ 156393 h 158604"/>
              <a:gd name="connsiteX17" fmla="*/ 73369 w 178566"/>
              <a:gd name="connsiteY17" fmla="*/ 91156 h 158604"/>
              <a:gd name="connsiteX18" fmla="*/ 71733 w 178566"/>
              <a:gd name="connsiteY18" fmla="*/ 91993 h 158604"/>
              <a:gd name="connsiteX19" fmla="*/ 40860 w 178566"/>
              <a:gd name="connsiteY19" fmla="*/ 138866 h 158604"/>
              <a:gd name="connsiteX20" fmla="*/ 24606 w 178566"/>
              <a:gd name="connsiteY20" fmla="*/ 139120 h 158604"/>
              <a:gd name="connsiteX21" fmla="*/ 533 w 178566"/>
              <a:gd name="connsiteY21" fmla="*/ 127193 h 158604"/>
              <a:gd name="connsiteX22" fmla="*/ 3369 w 178566"/>
              <a:gd name="connsiteY22" fmla="*/ 122975 h 158604"/>
              <a:gd name="connsiteX23" fmla="*/ 36460 w 178566"/>
              <a:gd name="connsiteY23" fmla="*/ 110575 h 158604"/>
              <a:gd name="connsiteX24" fmla="*/ 51551 w 178566"/>
              <a:gd name="connsiteY24" fmla="*/ 78538 h 158604"/>
              <a:gd name="connsiteX25" fmla="*/ 14824 w 178566"/>
              <a:gd name="connsiteY25" fmla="*/ 75266 h 158604"/>
              <a:gd name="connsiteX26" fmla="*/ 25115 w 178566"/>
              <a:gd name="connsiteY26" fmla="*/ 44756 h 158604"/>
              <a:gd name="connsiteX27" fmla="*/ 42533 w 178566"/>
              <a:gd name="connsiteY27" fmla="*/ 46611 h 158604"/>
            </a:gdLst>
            <a:ahLst/>
            <a:cxnLst/>
            <a:rect l="l" t="t" r="r" b="b"/>
            <a:pathLst>
              <a:path w="178566" h="158604">
                <a:moveTo>
                  <a:pt x="42496" y="46575"/>
                </a:moveTo>
                <a:cubicBezTo>
                  <a:pt x="51406" y="46829"/>
                  <a:pt x="57115" y="45884"/>
                  <a:pt x="57006" y="44247"/>
                </a:cubicBezTo>
                <a:cubicBezTo>
                  <a:pt x="57369" y="36866"/>
                  <a:pt x="57478" y="24356"/>
                  <a:pt x="55260" y="14793"/>
                </a:cubicBezTo>
                <a:cubicBezTo>
                  <a:pt x="54096" y="9884"/>
                  <a:pt x="57733" y="6829"/>
                  <a:pt x="60387" y="5229"/>
                </a:cubicBezTo>
                <a:cubicBezTo>
                  <a:pt x="67042" y="1375"/>
                  <a:pt x="68824" y="-371"/>
                  <a:pt x="72460" y="66"/>
                </a:cubicBezTo>
                <a:cubicBezTo>
                  <a:pt x="79006" y="1011"/>
                  <a:pt x="83806" y="5084"/>
                  <a:pt x="88351" y="11047"/>
                </a:cubicBezTo>
                <a:cubicBezTo>
                  <a:pt x="90569" y="14211"/>
                  <a:pt x="92315" y="9775"/>
                  <a:pt x="89733" y="25666"/>
                </a:cubicBezTo>
                <a:cubicBezTo>
                  <a:pt x="88351" y="33847"/>
                  <a:pt x="89624" y="34429"/>
                  <a:pt x="90787" y="35629"/>
                </a:cubicBezTo>
                <a:cubicBezTo>
                  <a:pt x="94424" y="37156"/>
                  <a:pt x="98278" y="35956"/>
                  <a:pt x="103878" y="34211"/>
                </a:cubicBezTo>
                <a:cubicBezTo>
                  <a:pt x="110787" y="32356"/>
                  <a:pt x="113115" y="21702"/>
                  <a:pt x="126678" y="37847"/>
                </a:cubicBezTo>
                <a:cubicBezTo>
                  <a:pt x="128569" y="39702"/>
                  <a:pt x="129951" y="42393"/>
                  <a:pt x="127478" y="45775"/>
                </a:cubicBezTo>
                <a:cubicBezTo>
                  <a:pt x="124569" y="49738"/>
                  <a:pt x="117551" y="51993"/>
                  <a:pt x="109696" y="56429"/>
                </a:cubicBezTo>
                <a:cubicBezTo>
                  <a:pt x="99406" y="62138"/>
                  <a:pt x="82678" y="63229"/>
                  <a:pt x="85042" y="70575"/>
                </a:cubicBezTo>
                <a:cubicBezTo>
                  <a:pt x="92060" y="88102"/>
                  <a:pt x="111115" y="113375"/>
                  <a:pt x="136242" y="130902"/>
                </a:cubicBezTo>
                <a:cubicBezTo>
                  <a:pt x="142678" y="135338"/>
                  <a:pt x="150496" y="139084"/>
                  <a:pt x="159406" y="141556"/>
                </a:cubicBezTo>
                <a:cubicBezTo>
                  <a:pt x="172278" y="145047"/>
                  <a:pt x="183006" y="147738"/>
                  <a:pt x="176715" y="151011"/>
                </a:cubicBezTo>
                <a:cubicBezTo>
                  <a:pt x="167006" y="156029"/>
                  <a:pt x="130897" y="161884"/>
                  <a:pt x="120715" y="156393"/>
                </a:cubicBezTo>
                <a:cubicBezTo>
                  <a:pt x="110315" y="150793"/>
                  <a:pt x="78860" y="100975"/>
                  <a:pt x="73369" y="91156"/>
                </a:cubicBezTo>
                <a:cubicBezTo>
                  <a:pt x="73151" y="90684"/>
                  <a:pt x="72206" y="90684"/>
                  <a:pt x="71733" y="91993"/>
                </a:cubicBezTo>
                <a:cubicBezTo>
                  <a:pt x="65878" y="104866"/>
                  <a:pt x="53478" y="128938"/>
                  <a:pt x="40860" y="138866"/>
                </a:cubicBezTo>
                <a:cubicBezTo>
                  <a:pt x="35369" y="143302"/>
                  <a:pt x="27187" y="140975"/>
                  <a:pt x="24606" y="139120"/>
                </a:cubicBezTo>
                <a:cubicBezTo>
                  <a:pt x="21805" y="136902"/>
                  <a:pt x="3442" y="132902"/>
                  <a:pt x="533" y="127193"/>
                </a:cubicBezTo>
                <a:cubicBezTo>
                  <a:pt x="-1104" y="123556"/>
                  <a:pt x="1369" y="123338"/>
                  <a:pt x="3369" y="122975"/>
                </a:cubicBezTo>
                <a:cubicBezTo>
                  <a:pt x="27587" y="122029"/>
                  <a:pt x="30860" y="115011"/>
                  <a:pt x="36460" y="110575"/>
                </a:cubicBezTo>
                <a:cubicBezTo>
                  <a:pt x="51296" y="99120"/>
                  <a:pt x="53515" y="79338"/>
                  <a:pt x="51551" y="78538"/>
                </a:cubicBezTo>
                <a:cubicBezTo>
                  <a:pt x="29442" y="80647"/>
                  <a:pt x="21733" y="83338"/>
                  <a:pt x="14824" y="75266"/>
                </a:cubicBezTo>
                <a:cubicBezTo>
                  <a:pt x="1151" y="47775"/>
                  <a:pt x="12242" y="43120"/>
                  <a:pt x="25115" y="44756"/>
                </a:cubicBezTo>
                <a:cubicBezTo>
                  <a:pt x="31551" y="45702"/>
                  <a:pt x="40205" y="46502"/>
                  <a:pt x="42533" y="46611"/>
                </a:cubicBezTo>
                <a:close/>
              </a:path>
            </a:pathLst>
          </a:custGeom>
          <a:solidFill>
            <a:schemeClr val="bg1"/>
          </a:solidFill>
          <a:ln w="3627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57" name="任意多边形: 形状 56"/>
          <p:cNvSpPr>
            <a:spLocks noGrp="1"/>
          </p:cNvSpPr>
          <p:nvPr/>
        </p:nvSpPr>
        <p:spPr>
          <a:xfrm>
            <a:off x="1177786" y="2065290"/>
            <a:ext cx="294126" cy="294877"/>
          </a:xfrm>
          <a:custGeom>
            <a:avLst/>
            <a:gdLst>
              <a:gd name="connsiteX0" fmla="*/ 17142 w 135756"/>
              <a:gd name="connsiteY0" fmla="*/ 61478 h 136103"/>
              <a:gd name="connsiteX1" fmla="*/ 24378 w 135756"/>
              <a:gd name="connsiteY1" fmla="*/ 68278 h 136103"/>
              <a:gd name="connsiteX2" fmla="*/ 30124 w 135756"/>
              <a:gd name="connsiteY2" fmla="*/ 100314 h 136103"/>
              <a:gd name="connsiteX3" fmla="*/ 40887 w 135756"/>
              <a:gd name="connsiteY3" fmla="*/ 99732 h 136103"/>
              <a:gd name="connsiteX4" fmla="*/ 54087 w 135756"/>
              <a:gd name="connsiteY4" fmla="*/ 95659 h 136103"/>
              <a:gd name="connsiteX5" fmla="*/ 53251 w 135756"/>
              <a:gd name="connsiteY5" fmla="*/ 21078 h 136103"/>
              <a:gd name="connsiteX6" fmla="*/ 52342 w 135756"/>
              <a:gd name="connsiteY6" fmla="*/ 16859 h 136103"/>
              <a:gd name="connsiteX7" fmla="*/ 65796 w 135756"/>
              <a:gd name="connsiteY7" fmla="*/ 23 h 136103"/>
              <a:gd name="connsiteX8" fmla="*/ 83433 w 135756"/>
              <a:gd name="connsiteY8" fmla="*/ 18605 h 136103"/>
              <a:gd name="connsiteX9" fmla="*/ 79469 w 135756"/>
              <a:gd name="connsiteY9" fmla="*/ 56714 h 136103"/>
              <a:gd name="connsiteX10" fmla="*/ 79833 w 135756"/>
              <a:gd name="connsiteY10" fmla="*/ 88059 h 136103"/>
              <a:gd name="connsiteX11" fmla="*/ 102160 w 135756"/>
              <a:gd name="connsiteY11" fmla="*/ 84787 h 136103"/>
              <a:gd name="connsiteX12" fmla="*/ 113615 w 135756"/>
              <a:gd name="connsiteY12" fmla="*/ 57296 h 136103"/>
              <a:gd name="connsiteX13" fmla="*/ 135724 w 135756"/>
              <a:gd name="connsiteY13" fmla="*/ 72023 h 136103"/>
              <a:gd name="connsiteX14" fmla="*/ 131978 w 135756"/>
              <a:gd name="connsiteY14" fmla="*/ 98932 h 136103"/>
              <a:gd name="connsiteX15" fmla="*/ 129397 w 135756"/>
              <a:gd name="connsiteY15" fmla="*/ 116569 h 136103"/>
              <a:gd name="connsiteX16" fmla="*/ 111978 w 135756"/>
              <a:gd name="connsiteY16" fmla="*/ 135987 h 136103"/>
              <a:gd name="connsiteX17" fmla="*/ 103106 w 135756"/>
              <a:gd name="connsiteY17" fmla="*/ 113078 h 136103"/>
              <a:gd name="connsiteX18" fmla="*/ 101942 w 135756"/>
              <a:gd name="connsiteY18" fmla="*/ 105805 h 136103"/>
              <a:gd name="connsiteX19" fmla="*/ 81578 w 135756"/>
              <a:gd name="connsiteY19" fmla="*/ 110496 h 136103"/>
              <a:gd name="connsiteX20" fmla="*/ 72815 w 135756"/>
              <a:gd name="connsiteY20" fmla="*/ 117732 h 136103"/>
              <a:gd name="connsiteX21" fmla="*/ 35178 w 135756"/>
              <a:gd name="connsiteY21" fmla="*/ 123223 h 136103"/>
              <a:gd name="connsiteX22" fmla="*/ 24051 w 135756"/>
              <a:gd name="connsiteY22" fmla="*/ 133732 h 136103"/>
              <a:gd name="connsiteX23" fmla="*/ 14706 w 135756"/>
              <a:gd name="connsiteY23" fmla="*/ 134314 h 136103"/>
              <a:gd name="connsiteX24" fmla="*/ 2669 w 135756"/>
              <a:gd name="connsiteY24" fmla="*/ 121332 h 136103"/>
              <a:gd name="connsiteX25" fmla="*/ 4196 w 135756"/>
              <a:gd name="connsiteY25" fmla="*/ 103332 h 136103"/>
              <a:gd name="connsiteX26" fmla="*/ 7942 w 135756"/>
              <a:gd name="connsiteY26" fmla="*/ 70932 h 136103"/>
              <a:gd name="connsiteX27" fmla="*/ 17178 w 135756"/>
              <a:gd name="connsiteY27" fmla="*/ 61441 h 136103"/>
            </a:gdLst>
            <a:ahLst/>
            <a:cxnLst/>
            <a:rect l="l" t="t" r="r" b="b"/>
            <a:pathLst>
              <a:path w="135756" h="136103">
                <a:moveTo>
                  <a:pt x="17142" y="61478"/>
                </a:moveTo>
                <a:cubicBezTo>
                  <a:pt x="19833" y="62314"/>
                  <a:pt x="22051" y="63805"/>
                  <a:pt x="24378" y="68278"/>
                </a:cubicBezTo>
                <a:cubicBezTo>
                  <a:pt x="30924" y="78787"/>
                  <a:pt x="28233" y="92023"/>
                  <a:pt x="30124" y="100314"/>
                </a:cubicBezTo>
                <a:cubicBezTo>
                  <a:pt x="31760" y="101369"/>
                  <a:pt x="36087" y="100423"/>
                  <a:pt x="40887" y="99732"/>
                </a:cubicBezTo>
                <a:cubicBezTo>
                  <a:pt x="47324" y="98678"/>
                  <a:pt x="54342" y="97405"/>
                  <a:pt x="54087" y="95659"/>
                </a:cubicBezTo>
                <a:cubicBezTo>
                  <a:pt x="53178" y="86787"/>
                  <a:pt x="54560" y="29005"/>
                  <a:pt x="53251" y="21078"/>
                </a:cubicBezTo>
                <a:cubicBezTo>
                  <a:pt x="53033" y="20241"/>
                  <a:pt x="52560" y="17696"/>
                  <a:pt x="52342" y="16859"/>
                </a:cubicBezTo>
                <a:cubicBezTo>
                  <a:pt x="49396" y="3514"/>
                  <a:pt x="62015" y="-341"/>
                  <a:pt x="65796" y="23"/>
                </a:cubicBezTo>
                <a:cubicBezTo>
                  <a:pt x="72342" y="714"/>
                  <a:pt x="85324" y="13005"/>
                  <a:pt x="83433" y="18605"/>
                </a:cubicBezTo>
                <a:cubicBezTo>
                  <a:pt x="79942" y="24459"/>
                  <a:pt x="79578" y="40932"/>
                  <a:pt x="79469" y="56714"/>
                </a:cubicBezTo>
                <a:cubicBezTo>
                  <a:pt x="79360" y="70023"/>
                  <a:pt x="79106" y="83150"/>
                  <a:pt x="79833" y="88059"/>
                </a:cubicBezTo>
                <a:cubicBezTo>
                  <a:pt x="79833" y="92132"/>
                  <a:pt x="96560" y="87005"/>
                  <a:pt x="102160" y="84787"/>
                </a:cubicBezTo>
                <a:cubicBezTo>
                  <a:pt x="109178" y="83478"/>
                  <a:pt x="107651" y="61405"/>
                  <a:pt x="113615" y="57296"/>
                </a:cubicBezTo>
                <a:cubicBezTo>
                  <a:pt x="116560" y="55296"/>
                  <a:pt x="133142" y="58096"/>
                  <a:pt x="135724" y="72023"/>
                </a:cubicBezTo>
                <a:cubicBezTo>
                  <a:pt x="136051" y="79623"/>
                  <a:pt x="133833" y="89441"/>
                  <a:pt x="131978" y="98932"/>
                </a:cubicBezTo>
                <a:cubicBezTo>
                  <a:pt x="130706" y="105587"/>
                  <a:pt x="129651" y="113550"/>
                  <a:pt x="129397" y="116569"/>
                </a:cubicBezTo>
                <a:cubicBezTo>
                  <a:pt x="129178" y="119732"/>
                  <a:pt x="116306" y="132932"/>
                  <a:pt x="111978" y="135987"/>
                </a:cubicBezTo>
                <a:cubicBezTo>
                  <a:pt x="105178" y="137623"/>
                  <a:pt x="103106" y="121732"/>
                  <a:pt x="103106" y="113078"/>
                </a:cubicBezTo>
                <a:cubicBezTo>
                  <a:pt x="103106" y="108387"/>
                  <a:pt x="103215" y="106896"/>
                  <a:pt x="101942" y="105805"/>
                </a:cubicBezTo>
                <a:cubicBezTo>
                  <a:pt x="97978" y="105478"/>
                  <a:pt x="87542" y="107223"/>
                  <a:pt x="81578" y="110496"/>
                </a:cubicBezTo>
                <a:cubicBezTo>
                  <a:pt x="78306" y="112241"/>
                  <a:pt x="77142" y="116932"/>
                  <a:pt x="72815" y="117732"/>
                </a:cubicBezTo>
                <a:cubicBezTo>
                  <a:pt x="55506" y="117041"/>
                  <a:pt x="37869" y="120532"/>
                  <a:pt x="35178" y="123223"/>
                </a:cubicBezTo>
                <a:cubicBezTo>
                  <a:pt x="33651" y="124750"/>
                  <a:pt x="25469" y="131769"/>
                  <a:pt x="24051" y="133732"/>
                </a:cubicBezTo>
                <a:cubicBezTo>
                  <a:pt x="22669" y="135623"/>
                  <a:pt x="16560" y="133623"/>
                  <a:pt x="14706" y="134314"/>
                </a:cubicBezTo>
                <a:cubicBezTo>
                  <a:pt x="10269" y="135732"/>
                  <a:pt x="7687" y="127878"/>
                  <a:pt x="2669" y="121332"/>
                </a:cubicBezTo>
                <a:cubicBezTo>
                  <a:pt x="-2604" y="114678"/>
                  <a:pt x="1033" y="110678"/>
                  <a:pt x="4196" y="103332"/>
                </a:cubicBezTo>
                <a:cubicBezTo>
                  <a:pt x="7578" y="95150"/>
                  <a:pt x="8742" y="80750"/>
                  <a:pt x="7942" y="70932"/>
                </a:cubicBezTo>
                <a:cubicBezTo>
                  <a:pt x="7942" y="65914"/>
                  <a:pt x="7687" y="60169"/>
                  <a:pt x="17178" y="61441"/>
                </a:cubicBezTo>
                <a:close/>
              </a:path>
            </a:pathLst>
          </a:custGeom>
          <a:solidFill>
            <a:schemeClr val="bg1"/>
          </a:solidFill>
          <a:ln w="3627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58" name="任意多边形: 形状 57"/>
          <p:cNvSpPr>
            <a:spLocks noGrp="1"/>
          </p:cNvSpPr>
          <p:nvPr/>
        </p:nvSpPr>
        <p:spPr>
          <a:xfrm>
            <a:off x="719999" y="1968199"/>
            <a:ext cx="324952" cy="488858"/>
          </a:xfrm>
          <a:custGeom>
            <a:avLst/>
            <a:gdLst>
              <a:gd name="connsiteX0" fmla="*/ 99236 w 149984"/>
              <a:gd name="connsiteY0" fmla="*/ 39418 h 225636"/>
              <a:gd name="connsiteX1" fmla="*/ 108946 w 149984"/>
              <a:gd name="connsiteY1" fmla="*/ 39309 h 225636"/>
              <a:gd name="connsiteX2" fmla="*/ 128109 w 149984"/>
              <a:gd name="connsiteY2" fmla="*/ 33345 h 225636"/>
              <a:gd name="connsiteX3" fmla="*/ 149600 w 149984"/>
              <a:gd name="connsiteY3" fmla="*/ 51709 h 225636"/>
              <a:gd name="connsiteX4" fmla="*/ 143055 w 149984"/>
              <a:gd name="connsiteY4" fmla="*/ 65163 h 225636"/>
              <a:gd name="connsiteX5" fmla="*/ 139309 w 149984"/>
              <a:gd name="connsiteY5" fmla="*/ 66218 h 225636"/>
              <a:gd name="connsiteX6" fmla="*/ 127855 w 149984"/>
              <a:gd name="connsiteY6" fmla="*/ 80363 h 225636"/>
              <a:gd name="connsiteX7" fmla="*/ 130655 w 149984"/>
              <a:gd name="connsiteY7" fmla="*/ 87491 h 225636"/>
              <a:gd name="connsiteX8" fmla="*/ 122364 w 149984"/>
              <a:gd name="connsiteY8" fmla="*/ 103854 h 225636"/>
              <a:gd name="connsiteX9" fmla="*/ 114982 w 149984"/>
              <a:gd name="connsiteY9" fmla="*/ 105818 h 225636"/>
              <a:gd name="connsiteX10" fmla="*/ 99200 w 149984"/>
              <a:gd name="connsiteY10" fmla="*/ 109091 h 225636"/>
              <a:gd name="connsiteX11" fmla="*/ 99200 w 149984"/>
              <a:gd name="connsiteY11" fmla="*/ 78473 h 225636"/>
              <a:gd name="connsiteX12" fmla="*/ 104218 w 149984"/>
              <a:gd name="connsiteY12" fmla="*/ 73091 h 225636"/>
              <a:gd name="connsiteX13" fmla="*/ 108691 w 149984"/>
              <a:gd name="connsiteY13" fmla="*/ 56836 h 225636"/>
              <a:gd name="connsiteX14" fmla="*/ 99200 w 149984"/>
              <a:gd name="connsiteY14" fmla="*/ 55418 h 225636"/>
              <a:gd name="connsiteX15" fmla="*/ 99200 w 149984"/>
              <a:gd name="connsiteY15" fmla="*/ 39382 h 225636"/>
              <a:gd name="connsiteX16" fmla="*/ 47455 w 149984"/>
              <a:gd name="connsiteY16" fmla="*/ 54400 h 225636"/>
              <a:gd name="connsiteX17" fmla="*/ 61600 w 149984"/>
              <a:gd name="connsiteY17" fmla="*/ 47854 h 225636"/>
              <a:gd name="connsiteX18" fmla="*/ 60545 w 149984"/>
              <a:gd name="connsiteY18" fmla="*/ 22836 h 225636"/>
              <a:gd name="connsiteX19" fmla="*/ 59491 w 149984"/>
              <a:gd name="connsiteY19" fmla="*/ 18509 h 225636"/>
              <a:gd name="connsiteX20" fmla="*/ 74909 w 149984"/>
              <a:gd name="connsiteY20" fmla="*/ 36 h 225636"/>
              <a:gd name="connsiteX21" fmla="*/ 91746 w 149984"/>
              <a:gd name="connsiteY21" fmla="*/ 12182 h 225636"/>
              <a:gd name="connsiteX22" fmla="*/ 91273 w 149984"/>
              <a:gd name="connsiteY22" fmla="*/ 38836 h 225636"/>
              <a:gd name="connsiteX23" fmla="*/ 99236 w 149984"/>
              <a:gd name="connsiteY23" fmla="*/ 39418 h 225636"/>
              <a:gd name="connsiteX24" fmla="*/ 99236 w 149984"/>
              <a:gd name="connsiteY24" fmla="*/ 55454 h 225636"/>
              <a:gd name="connsiteX25" fmla="*/ 91055 w 149984"/>
              <a:gd name="connsiteY25" fmla="*/ 57782 h 225636"/>
              <a:gd name="connsiteX26" fmla="*/ 90473 w 149984"/>
              <a:gd name="connsiteY26" fmla="*/ 81527 h 225636"/>
              <a:gd name="connsiteX27" fmla="*/ 99236 w 149984"/>
              <a:gd name="connsiteY27" fmla="*/ 78473 h 225636"/>
              <a:gd name="connsiteX28" fmla="*/ 99236 w 149984"/>
              <a:gd name="connsiteY28" fmla="*/ 109091 h 225636"/>
              <a:gd name="connsiteX29" fmla="*/ 87891 w 149984"/>
              <a:gd name="connsiteY29" fmla="*/ 115163 h 225636"/>
              <a:gd name="connsiteX30" fmla="*/ 84255 w 149984"/>
              <a:gd name="connsiteY30" fmla="*/ 196654 h 225636"/>
              <a:gd name="connsiteX31" fmla="*/ 69891 w 149984"/>
              <a:gd name="connsiteY31" fmla="*/ 225636 h 225636"/>
              <a:gd name="connsiteX32" fmla="*/ 59236 w 149984"/>
              <a:gd name="connsiteY32" fmla="*/ 195018 h 225636"/>
              <a:gd name="connsiteX33" fmla="*/ 58073 w 149984"/>
              <a:gd name="connsiteY33" fmla="*/ 119236 h 225636"/>
              <a:gd name="connsiteX34" fmla="*/ 47418 w 149984"/>
              <a:gd name="connsiteY34" fmla="*/ 122509 h 225636"/>
              <a:gd name="connsiteX35" fmla="*/ 47418 w 149984"/>
              <a:gd name="connsiteY35" fmla="*/ 96436 h 225636"/>
              <a:gd name="connsiteX36" fmla="*/ 56182 w 149984"/>
              <a:gd name="connsiteY36" fmla="*/ 93382 h 225636"/>
              <a:gd name="connsiteX37" fmla="*/ 57018 w 149984"/>
              <a:gd name="connsiteY37" fmla="*/ 72109 h 225636"/>
              <a:gd name="connsiteX38" fmla="*/ 52909 w 149984"/>
              <a:gd name="connsiteY38" fmla="*/ 73382 h 225636"/>
              <a:gd name="connsiteX39" fmla="*/ 47418 w 149984"/>
              <a:gd name="connsiteY39" fmla="*/ 75709 h 225636"/>
              <a:gd name="connsiteX40" fmla="*/ 47418 w 149984"/>
              <a:gd name="connsiteY40" fmla="*/ 54327 h 225636"/>
              <a:gd name="connsiteX41" fmla="*/ 28873 w 149984"/>
              <a:gd name="connsiteY41" fmla="*/ 63273 h 225636"/>
              <a:gd name="connsiteX42" fmla="*/ 38473 w 149984"/>
              <a:gd name="connsiteY42" fmla="*/ 59782 h 225636"/>
              <a:gd name="connsiteX43" fmla="*/ 47455 w 149984"/>
              <a:gd name="connsiteY43" fmla="*/ 54400 h 225636"/>
              <a:gd name="connsiteX44" fmla="*/ 47455 w 149984"/>
              <a:gd name="connsiteY44" fmla="*/ 75782 h 225636"/>
              <a:gd name="connsiteX45" fmla="*/ 38218 w 149984"/>
              <a:gd name="connsiteY45" fmla="*/ 75891 h 225636"/>
              <a:gd name="connsiteX46" fmla="*/ 41855 w 149984"/>
              <a:gd name="connsiteY46" fmla="*/ 96000 h 225636"/>
              <a:gd name="connsiteX47" fmla="*/ 47455 w 149984"/>
              <a:gd name="connsiteY47" fmla="*/ 96473 h 225636"/>
              <a:gd name="connsiteX48" fmla="*/ 47455 w 149984"/>
              <a:gd name="connsiteY48" fmla="*/ 122545 h 225636"/>
              <a:gd name="connsiteX49" fmla="*/ 38000 w 149984"/>
              <a:gd name="connsiteY49" fmla="*/ 126400 h 225636"/>
              <a:gd name="connsiteX50" fmla="*/ 33309 w 149984"/>
              <a:gd name="connsiteY50" fmla="*/ 130982 h 225636"/>
              <a:gd name="connsiteX51" fmla="*/ 28618 w 149984"/>
              <a:gd name="connsiteY51" fmla="*/ 136218 h 225636"/>
              <a:gd name="connsiteX52" fmla="*/ 15055 w 149984"/>
              <a:gd name="connsiteY52" fmla="*/ 133891 h 225636"/>
              <a:gd name="connsiteX53" fmla="*/ 7236 w 149984"/>
              <a:gd name="connsiteY53" fmla="*/ 118000 h 225636"/>
              <a:gd name="connsiteX54" fmla="*/ 0 w 149984"/>
              <a:gd name="connsiteY54" fmla="*/ 103745 h 225636"/>
              <a:gd name="connsiteX55" fmla="*/ 5127 w 149984"/>
              <a:gd name="connsiteY55" fmla="*/ 91345 h 225636"/>
              <a:gd name="connsiteX56" fmla="*/ 6182 w 149984"/>
              <a:gd name="connsiteY56" fmla="*/ 85273 h 225636"/>
              <a:gd name="connsiteX57" fmla="*/ 10255 w 149984"/>
              <a:gd name="connsiteY57" fmla="*/ 66545 h 225636"/>
              <a:gd name="connsiteX58" fmla="*/ 28836 w 149984"/>
              <a:gd name="connsiteY58" fmla="*/ 63273 h 225636"/>
            </a:gdLst>
            <a:ahLst/>
            <a:cxnLst/>
            <a:rect l="l" t="t" r="r" b="b"/>
            <a:pathLst>
              <a:path w="149984" h="225636">
                <a:moveTo>
                  <a:pt x="99236" y="39418"/>
                </a:moveTo>
                <a:cubicBezTo>
                  <a:pt x="102182" y="39527"/>
                  <a:pt x="105564" y="39527"/>
                  <a:pt x="108946" y="39309"/>
                </a:cubicBezTo>
                <a:cubicBezTo>
                  <a:pt x="115018" y="38582"/>
                  <a:pt x="122618" y="33454"/>
                  <a:pt x="128109" y="33345"/>
                </a:cubicBezTo>
                <a:cubicBezTo>
                  <a:pt x="136073" y="33345"/>
                  <a:pt x="146946" y="44582"/>
                  <a:pt x="149600" y="51709"/>
                </a:cubicBezTo>
                <a:cubicBezTo>
                  <a:pt x="151236" y="57891"/>
                  <a:pt x="147382" y="62800"/>
                  <a:pt x="143055" y="65163"/>
                </a:cubicBezTo>
                <a:lnTo>
                  <a:pt x="139309" y="66218"/>
                </a:lnTo>
                <a:cubicBezTo>
                  <a:pt x="135091" y="68436"/>
                  <a:pt x="127491" y="78400"/>
                  <a:pt x="127855" y="80363"/>
                </a:cubicBezTo>
                <a:cubicBezTo>
                  <a:pt x="127600" y="83273"/>
                  <a:pt x="127600" y="85273"/>
                  <a:pt x="130655" y="87491"/>
                </a:cubicBezTo>
                <a:cubicBezTo>
                  <a:pt x="132546" y="90182"/>
                  <a:pt x="127964" y="101636"/>
                  <a:pt x="122364" y="103854"/>
                </a:cubicBezTo>
                <a:cubicBezTo>
                  <a:pt x="120727" y="104800"/>
                  <a:pt x="119200" y="105709"/>
                  <a:pt x="114982" y="105818"/>
                </a:cubicBezTo>
                <a:cubicBezTo>
                  <a:pt x="109709" y="105600"/>
                  <a:pt x="104473" y="106873"/>
                  <a:pt x="99200" y="109091"/>
                </a:cubicBezTo>
                <a:lnTo>
                  <a:pt x="99200" y="78473"/>
                </a:lnTo>
                <a:cubicBezTo>
                  <a:pt x="101673" y="76727"/>
                  <a:pt x="103527" y="74618"/>
                  <a:pt x="104218" y="73091"/>
                </a:cubicBezTo>
                <a:cubicBezTo>
                  <a:pt x="107273" y="69018"/>
                  <a:pt x="111018" y="62109"/>
                  <a:pt x="108691" y="56836"/>
                </a:cubicBezTo>
                <a:cubicBezTo>
                  <a:pt x="106473" y="55200"/>
                  <a:pt x="102727" y="54982"/>
                  <a:pt x="99200" y="55418"/>
                </a:cubicBezTo>
                <a:lnTo>
                  <a:pt x="99200" y="39382"/>
                </a:lnTo>
                <a:close/>
                <a:moveTo>
                  <a:pt x="47455" y="54400"/>
                </a:moveTo>
                <a:cubicBezTo>
                  <a:pt x="52473" y="51600"/>
                  <a:pt x="56000" y="49818"/>
                  <a:pt x="61600" y="47854"/>
                </a:cubicBezTo>
                <a:cubicBezTo>
                  <a:pt x="61382" y="39563"/>
                  <a:pt x="60327" y="30763"/>
                  <a:pt x="60545" y="22836"/>
                </a:cubicBezTo>
                <a:cubicBezTo>
                  <a:pt x="60655" y="21200"/>
                  <a:pt x="60073" y="19673"/>
                  <a:pt x="59491" y="18509"/>
                </a:cubicBezTo>
                <a:cubicBezTo>
                  <a:pt x="56109" y="11600"/>
                  <a:pt x="63818" y="2618"/>
                  <a:pt x="74909" y="36"/>
                </a:cubicBezTo>
                <a:cubicBezTo>
                  <a:pt x="77964" y="-546"/>
                  <a:pt x="91636" y="6000"/>
                  <a:pt x="91746" y="12182"/>
                </a:cubicBezTo>
                <a:cubicBezTo>
                  <a:pt x="91527" y="21054"/>
                  <a:pt x="90582" y="30982"/>
                  <a:pt x="91273" y="38836"/>
                </a:cubicBezTo>
                <a:cubicBezTo>
                  <a:pt x="93382" y="39054"/>
                  <a:pt x="96073" y="39309"/>
                  <a:pt x="99236" y="39418"/>
                </a:cubicBezTo>
                <a:lnTo>
                  <a:pt x="99236" y="55454"/>
                </a:lnTo>
                <a:cubicBezTo>
                  <a:pt x="95964" y="55927"/>
                  <a:pt x="92909" y="56982"/>
                  <a:pt x="91055" y="57782"/>
                </a:cubicBezTo>
                <a:cubicBezTo>
                  <a:pt x="89164" y="60945"/>
                  <a:pt x="88000" y="80218"/>
                  <a:pt x="90473" y="81527"/>
                </a:cubicBezTo>
                <a:cubicBezTo>
                  <a:pt x="93273" y="82000"/>
                  <a:pt x="96546" y="80473"/>
                  <a:pt x="99236" y="78473"/>
                </a:cubicBezTo>
                <a:lnTo>
                  <a:pt x="99236" y="109091"/>
                </a:lnTo>
                <a:cubicBezTo>
                  <a:pt x="95382" y="110727"/>
                  <a:pt x="91527" y="112836"/>
                  <a:pt x="87891" y="115163"/>
                </a:cubicBezTo>
                <a:cubicBezTo>
                  <a:pt x="87418" y="142982"/>
                  <a:pt x="85200" y="169054"/>
                  <a:pt x="84255" y="196654"/>
                </a:cubicBezTo>
                <a:cubicBezTo>
                  <a:pt x="82400" y="211163"/>
                  <a:pt x="77382" y="224582"/>
                  <a:pt x="69891" y="225636"/>
                </a:cubicBezTo>
                <a:cubicBezTo>
                  <a:pt x="64618" y="225054"/>
                  <a:pt x="59491" y="213454"/>
                  <a:pt x="59236" y="195018"/>
                </a:cubicBezTo>
                <a:lnTo>
                  <a:pt x="58073" y="119236"/>
                </a:lnTo>
                <a:cubicBezTo>
                  <a:pt x="55018" y="119709"/>
                  <a:pt x="51527" y="120873"/>
                  <a:pt x="47418" y="122509"/>
                </a:cubicBezTo>
                <a:lnTo>
                  <a:pt x="47418" y="96436"/>
                </a:lnTo>
                <a:cubicBezTo>
                  <a:pt x="50582" y="96436"/>
                  <a:pt x="52327" y="95600"/>
                  <a:pt x="56182" y="93382"/>
                </a:cubicBezTo>
                <a:cubicBezTo>
                  <a:pt x="58655" y="91854"/>
                  <a:pt x="57818" y="75127"/>
                  <a:pt x="57018" y="72109"/>
                </a:cubicBezTo>
                <a:cubicBezTo>
                  <a:pt x="55855" y="70363"/>
                  <a:pt x="53600" y="72945"/>
                  <a:pt x="52909" y="73382"/>
                </a:cubicBezTo>
                <a:cubicBezTo>
                  <a:pt x="51055" y="74436"/>
                  <a:pt x="49273" y="75236"/>
                  <a:pt x="47418" y="75709"/>
                </a:cubicBezTo>
                <a:lnTo>
                  <a:pt x="47418" y="54327"/>
                </a:lnTo>
                <a:close/>
                <a:moveTo>
                  <a:pt x="28873" y="63273"/>
                </a:moveTo>
                <a:cubicBezTo>
                  <a:pt x="32036" y="64327"/>
                  <a:pt x="34473" y="62000"/>
                  <a:pt x="38473" y="59782"/>
                </a:cubicBezTo>
                <a:cubicBezTo>
                  <a:pt x="42073" y="57563"/>
                  <a:pt x="45018" y="55927"/>
                  <a:pt x="47455" y="54400"/>
                </a:cubicBezTo>
                <a:lnTo>
                  <a:pt x="47455" y="75782"/>
                </a:lnTo>
                <a:cubicBezTo>
                  <a:pt x="44182" y="76727"/>
                  <a:pt x="41018" y="76727"/>
                  <a:pt x="38218" y="75891"/>
                </a:cubicBezTo>
                <a:cubicBezTo>
                  <a:pt x="35309" y="74618"/>
                  <a:pt x="38473" y="95091"/>
                  <a:pt x="41855" y="96000"/>
                </a:cubicBezTo>
                <a:cubicBezTo>
                  <a:pt x="44291" y="96218"/>
                  <a:pt x="46073" y="96473"/>
                  <a:pt x="47455" y="96473"/>
                </a:cubicBezTo>
                <a:lnTo>
                  <a:pt x="47455" y="122545"/>
                </a:lnTo>
                <a:cubicBezTo>
                  <a:pt x="44655" y="123600"/>
                  <a:pt x="41491" y="125018"/>
                  <a:pt x="38000" y="126400"/>
                </a:cubicBezTo>
                <a:cubicBezTo>
                  <a:pt x="36364" y="127818"/>
                  <a:pt x="34836" y="129200"/>
                  <a:pt x="33309" y="130982"/>
                </a:cubicBezTo>
                <a:cubicBezTo>
                  <a:pt x="31673" y="132836"/>
                  <a:pt x="30618" y="135782"/>
                  <a:pt x="28618" y="136218"/>
                </a:cubicBezTo>
                <a:cubicBezTo>
                  <a:pt x="24036" y="137382"/>
                  <a:pt x="19018" y="136691"/>
                  <a:pt x="15055" y="133891"/>
                </a:cubicBezTo>
                <a:cubicBezTo>
                  <a:pt x="11891" y="131309"/>
                  <a:pt x="11782" y="124873"/>
                  <a:pt x="7236" y="118000"/>
                </a:cubicBezTo>
                <a:cubicBezTo>
                  <a:pt x="3636" y="113454"/>
                  <a:pt x="0" y="110036"/>
                  <a:pt x="0" y="103745"/>
                </a:cubicBezTo>
                <a:cubicBezTo>
                  <a:pt x="2327" y="97891"/>
                  <a:pt x="3164" y="94873"/>
                  <a:pt x="5127" y="91345"/>
                </a:cubicBezTo>
                <a:cubicBezTo>
                  <a:pt x="5600" y="89600"/>
                  <a:pt x="5927" y="87963"/>
                  <a:pt x="6182" y="85273"/>
                </a:cubicBezTo>
                <a:cubicBezTo>
                  <a:pt x="6764" y="78618"/>
                  <a:pt x="7709" y="72982"/>
                  <a:pt x="10255" y="66545"/>
                </a:cubicBezTo>
                <a:cubicBezTo>
                  <a:pt x="12145" y="63054"/>
                  <a:pt x="21491" y="57091"/>
                  <a:pt x="28836" y="63273"/>
                </a:cubicBezTo>
                <a:close/>
              </a:path>
            </a:pathLst>
          </a:custGeom>
          <a:solidFill>
            <a:schemeClr val="bg1"/>
          </a:solidFill>
          <a:ln w="3627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107" name="cover-title"/>
          <p:cNvSpPr>
            <a:spLocks noGrp="1"/>
          </p:cNvSpPr>
          <p:nvPr/>
        </p:nvSpPr>
        <p:spPr>
          <a:xfrm>
            <a:off x="619125" y="2686050"/>
            <a:ext cx="6953250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数据库课程</a:t>
            </a:r>
          </a:p>
          <a:p>
            <a:pPr algn="l">
              <a:buNone/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期末大作业说明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6" name="slide-title"/>
          <p:cNvSpPr>
            <a:spLocks noGrp="1"/>
          </p:cNvSpPr>
          <p:nvPr/>
        </p:nvSpPr>
        <p:spPr>
          <a:xfrm>
            <a:off x="723900" y="476250"/>
            <a:ext cx="8953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任务范围与分组方式</a:t>
            </a: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1029950" y="64198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8" name="all-required"/>
          <p:cNvSpPr>
            <a:spLocks noGrp="1"/>
          </p:cNvSpPr>
          <p:nvPr/>
        </p:nvSpPr>
        <p:spPr>
          <a:xfrm>
            <a:off x="742950" y="157162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五个实验全部必做</a:t>
            </a:r>
          </a:p>
        </p:txBody>
      </p:sp>
      <p:sp>
        <p:nvSpPr>
          <p:cNvPr id="9" name="grouping"/>
          <p:cNvSpPr>
            <a:spLocks noGrp="1"/>
          </p:cNvSpPr>
          <p:nvPr/>
        </p:nvSpPr>
        <p:spPr>
          <a:xfrm>
            <a:off x="781050" y="2457450"/>
            <a:ext cx="10477500" cy="3448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27000" algn="l">
              <a:spcAft>
                <a:spcPts val="1600"/>
              </a:spcAft>
              <a:buChar char="•"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前四个实验每位同学都要求完成，第五个实验</a:t>
            </a:r>
            <a:r>
              <a:t>可独立完成，也可2人一组完成。</a:t>
            </a:r>
          </a:p>
          <a:p>
            <a:pPr marL="228600" indent="-127000" algn="l">
              <a:spcAft>
                <a:spcPts val="1600"/>
              </a:spcAft>
              <a:buChar char="•"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每组提交一套材料，由一名成员统一提交。</a:t>
            </a:r>
          </a:p>
          <a:p>
            <a:pPr marL="228600" indent="-127000" algn="l">
              <a:spcAft>
                <a:spcPts val="1600"/>
              </a:spcAft>
              <a:buChar char="•"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报告注明班级、成员姓名、学号及具体分工。</a:t>
            </a:r>
          </a:p>
          <a:p>
            <a:pPr marL="228600" indent="-127000" algn="l">
              <a:spcAft>
                <a:spcPts val="1600"/>
              </a:spcAft>
              <a:buChar char="•"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仅提交实验报告与代码，不安排答辩或现场演示。</a:t>
            </a:r>
          </a:p>
          <a:p>
            <a:pPr marL="228600" indent="-127000" algn="l">
              <a:spcAft>
                <a:spcPts val="1600"/>
              </a:spcAft>
              <a:buChar char="•"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按照实验任务要求完成操作、程序实现和结果验证。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ns2:creationId xmlns:ns5="http://schemas.microsoft.com/office/powerpoint/2010/main" xmlns:ns4="http://schemas.microsoft.com/office/drawing/2016/SVG/main" xmlns:ns2="http://schemas.microsoft.com/office/drawing/2014/main" xmlns="" id="{79DF3170-4C80-4FD7-846B-0860E4C12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4:svgBlip xmlns:ns5="http://schemas.microsoft.com/office/powerpoint/2010/main" xmlns:ns4="http://schemas.microsoft.com/office/drawing/2016/SVG/main" xmlns:ns2="http://schemas.microsoft.com/office/drawing/2014/main" xmlns="" r:embed="Reba7d0f890d04214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6" name="slide-title">
            <a:extLst>
              <a:ext uri="{FF2B5EF4-FFF2-40B4-BE49-F238E27FC236}">
                <ns2:creationId xmlns:ns5="http://schemas.microsoft.com/office/powerpoint/2010/main" xmlns:ns4="http://schemas.microsoft.com/office/drawing/2016/SVG/main" xmlns:ns2="http://schemas.microsoft.com/office/drawing/2014/main" xmlns="" id="{E8A18EDC-0DF1-45FC-B7A9-E9C4132EEB48}"/>
              </a:ext>
            </a:extLst>
          </p:cNvPr>
          <p:cNvSpPr>
            <a:spLocks noGrp="1"/>
          </p:cNvSpPr>
          <p:nvPr/>
        </p:nvSpPr>
        <p:spPr>
          <a:xfrm>
            <a:off x="723900" y="476250"/>
            <a:ext cx="8953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华为云 GaussDB 免费试用</a:t>
            </a:r>
          </a:p>
        </p:txBody>
      </p:sp>
      <p:sp>
        <p:nvSpPr>
          <p:cNvPr id="7" name="trial-product-url">
            <a:extLst>
              <a:ext uri="{FF2B5EF4-FFF2-40B4-BE49-F238E27FC236}">
                <ns2:creationId xmlns:ns5="http://schemas.microsoft.com/office/powerpoint/2010/main" xmlns:ns4="http://schemas.microsoft.com/office/drawing/2016/SVG/main" xmlns:ns2="http://schemas.microsoft.com/office/drawing/2014/main" xmlns="" id="{10D44515-80E5-4D7E-B602-51CA1E36D61F}"/>
              </a:ext>
            </a:extLst>
          </p:cNvPr>
          <p:cNvSpPr>
            <a:spLocks noGrp="1"/>
          </p:cNvSpPr>
          <p:nvPr/>
        </p:nvSpPr>
        <p:spPr>
          <a:xfrm>
            <a:off x="742950" y="1381125"/>
            <a:ext cx="10725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6352C"/>
                </a:solidFill>
                <a:latin typeface="Microsoft YaHei"/>
                <a:ea typeface="Microsoft YaHei"/>
                <a:cs typeface="Microsoft YaHei"/>
                <a:hlinkClick r:id="rId4"/>
              </a:rPr>
              <a:t>https://www.huaweicloud.com/product/gaussdb.html</a:t>
            </a:r>
          </a:p>
        </p:txBody>
      </p:sp>
      <p:pic>
        <p:nvPicPr>
          <p:cNvPr id="8" name="图片 7">
            <a:extLst>
              <a:ext uri="{FF2B5EF4-FFF2-40B4-BE49-F238E27FC236}">
                <ns2:creationId xmlns:ns5="http://schemas.microsoft.com/office/powerpoint/2010/main" xmlns:ns4="http://schemas.microsoft.com/office/drawing/2016/SVG/main" xmlns:ns2="http://schemas.microsoft.com/office/drawing/2014/main" xmlns="" id="{A1A826CE-9B7B-40AC-9B0A-78BD9BF1C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2954" y="2286000"/>
            <a:ext cx="5200642" cy="28420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ns2:creationId xmlns:ns5="http://schemas.microsoft.com/office/powerpoint/2010/main" xmlns:ns4="http://schemas.microsoft.com/office/drawing/2016/SVG/main" xmlns:ns2="http://schemas.microsoft.com/office/drawing/2014/main" xmlns="" id="{DCAB23E1-1298-40FC-B775-D30260E7A6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67454" y="2286000"/>
            <a:ext cx="5200642" cy="2842070"/>
          </a:xfrm>
          <a:prstGeom prst="rect">
            <a:avLst/>
          </a:prstGeom>
        </p:spPr>
      </p:pic>
      <p:sp>
        <p:nvSpPr>
          <p:cNvPr id="10" name="page-number">
            <a:extLst>
              <a:ext uri="{FF2B5EF4-FFF2-40B4-BE49-F238E27FC236}">
                <ns2:creationId xmlns:ns5="http://schemas.microsoft.com/office/powerpoint/2010/main" xmlns:ns4="http://schemas.microsoft.com/office/drawing/2016/SVG/main" xmlns:ns2="http://schemas.microsoft.com/office/drawing/2014/main" xmlns="" id="{24F2ACD6-5C70-4748-BEFA-3B198219A03B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2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99" y="5319713"/>
            <a:ext cx="10972801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308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6" name="slide-title"/>
          <p:cNvSpPr>
            <a:spLocks noGrp="1"/>
          </p:cNvSpPr>
          <p:nvPr/>
        </p:nvSpPr>
        <p:spPr>
          <a:xfrm>
            <a:off x="723900" y="476250"/>
            <a:ext cx="8953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成绩分配</a:t>
            </a: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1029950" y="64198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graphicFrame>
        <p:nvGraphicFramePr>
          <p:cNvPr id="9" name="score-distribution"/>
          <p:cNvGraphicFramePr/>
          <p:nvPr/>
        </p:nvGraphicFramePr>
        <p:xfrm>
          <a:off x="742950" y="1857375"/>
          <a:ext cx="10725150" cy="3829049"/>
        </p:xfrm>
        <a:graphic>
          <a:graphicData uri="http://schemas.openxmlformats.org/drawingml/2006/table">
            <a:tbl>
              <a:tblPr/>
              <a:tblGrid>
                <a:gridCol w="6286500"/>
                <a:gridCol w="1009650"/>
                <a:gridCol w="3429000"/>
              </a:tblGrid>
              <a:tr h="5470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实验内容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>
                      <a:solidFill>
                        <a:srgbClr val="D6E0D9"/>
                      </a:solidFill>
                      <a:prstDash val="soli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>
                      <a:solidFill>
                        <a:srgbClr val="D6E0D9"/>
                      </a:solidFill>
                      <a:prstDash val="soli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>
                      <a:solidFill>
                        <a:srgbClr val="D6E0D9"/>
                      </a:solidFill>
                      <a:prstDash val="soli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00561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实验一  GaussDB部署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基础实验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实验二  SQL及常规操作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基础实验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实验三  JDBC基础操作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基础实验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实验四  数据库管理与运维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基础实验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实验五  金融场景综合实践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基础30分＋进阶20分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总分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五个实验合计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</a:tr>
            </a:tbl>
          </a:graphicData>
        </a:graphic>
      </p:graphicFrame>
      <p:sp>
        <p:nvSpPr>
          <p:cNvPr id="10" name="base-advanced-total"/>
          <p:cNvSpPr>
            <a:spLocks noGrp="1"/>
          </p:cNvSpPr>
          <p:nvPr/>
        </p:nvSpPr>
        <p:spPr>
          <a:xfrm>
            <a:off x="762000" y="595312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基础任务对应80分，进阶要求对应20分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6" name="slide-title"/>
          <p:cNvSpPr>
            <a:spLocks noGrp="1"/>
          </p:cNvSpPr>
          <p:nvPr/>
        </p:nvSpPr>
        <p:spPr>
          <a:xfrm>
            <a:off x="723900" y="476250"/>
            <a:ext cx="8953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前四个实验的评价要求</a:t>
            </a: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1029950" y="64198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graphicFrame>
        <p:nvGraphicFramePr>
          <p:cNvPr id="8" name="first-four"/>
          <p:cNvGraphicFramePr/>
          <p:nvPr/>
        </p:nvGraphicFramePr>
        <p:xfrm>
          <a:off x="742950" y="1504950"/>
          <a:ext cx="10725150" cy="3448050"/>
        </p:xfrm>
        <a:graphic>
          <a:graphicData uri="http://schemas.openxmlformats.org/drawingml/2006/table">
            <a:tbl>
              <a:tblPr/>
              <a:tblGrid>
                <a:gridCol w="1905000"/>
                <a:gridCol w="1009650"/>
                <a:gridCol w="7810500"/>
              </a:tblGrid>
              <a:tr h="574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>
                      <a:solidFill>
                        <a:srgbClr val="D6E0D9"/>
                      </a:solidFill>
                      <a:prstDash val="soli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>
                      <a:solidFill>
                        <a:srgbClr val="D6E0D9"/>
                      </a:solidFill>
                      <a:prstDash val="soli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主要核验内容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>
                      <a:solidFill>
                        <a:srgbClr val="D6E0D9"/>
                      </a:solidFill>
                      <a:prstDash val="soli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00561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实验一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数据库部署、客户端连接及结果记录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实验二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规定SQL操作及查询、更新结果核对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实验三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JDBC连接、基础操作与返回结果验证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实验四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权限管理、导入导出及备份恢复任务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合计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以课程发布的具体实验任务为准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first-four-evidence"/>
          <p:cNvSpPr>
            <a:spLocks noGrp="1"/>
          </p:cNvSpPr>
          <p:nvPr/>
        </p:nvSpPr>
        <p:spPr>
          <a:xfrm>
            <a:off x="781050" y="5314950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27000" algn="l">
              <a:spcAft>
                <a:spcPts val="1600"/>
              </a:spcAft>
              <a:buChar char="•"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依据报告中的操作记录、结果核对及对应脚本评分。</a:t>
            </a:r>
          </a:p>
          <a:p>
            <a:pPr marL="228600" indent="-127000" algn="l">
              <a:spcAft>
                <a:spcPts val="1600"/>
              </a:spcAft>
              <a:buChar char="•"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部分完成按可核实的成果给分，未完成的部分不计分。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6" name="slide-title"/>
          <p:cNvSpPr>
            <a:spLocks noGrp="1"/>
          </p:cNvSpPr>
          <p:nvPr/>
        </p:nvSpPr>
        <p:spPr>
          <a:xfrm>
            <a:off x="723900" y="476250"/>
            <a:ext cx="8953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实验五基础要求</a:t>
            </a: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1029950" y="64198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  <p:sp>
        <p:nvSpPr>
          <p:cNvPr id="8" name="base-score"/>
          <p:cNvSpPr>
            <a:spLocks noGrp="1"/>
          </p:cNvSpPr>
          <p:nvPr/>
        </p:nvSpPr>
        <p:spPr>
          <a:xfrm>
            <a:off x="742950" y="13525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基础分 30分</a:t>
            </a:r>
          </a:p>
        </p:txBody>
      </p:sp>
      <p:sp>
        <p:nvSpPr>
          <p:cNvPr id="9" name="base-tasks"/>
          <p:cNvSpPr>
            <a:spLocks noGrp="1"/>
          </p:cNvSpPr>
          <p:nvPr/>
        </p:nvSpPr>
        <p:spPr>
          <a:xfrm>
            <a:off x="781050" y="2143125"/>
            <a:ext cx="1047750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27000" algn="l">
              <a:spcAft>
                <a:spcPts val="1600"/>
              </a:spcAft>
              <a:buChar char="•"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完成规定的数据库、表结构与初始化数据。</a:t>
            </a:r>
          </a:p>
          <a:p>
            <a:pPr marL="228600" indent="-127000" algn="l">
              <a:spcAft>
                <a:spcPts val="1600"/>
              </a:spcAft>
              <a:buChar char="•"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配置JDBC连接，完成数据访问层的主要操作。</a:t>
            </a:r>
          </a:p>
          <a:p>
            <a:pPr marL="228600" indent="-127000" algn="l">
              <a:spcAft>
                <a:spcPts val="1600"/>
              </a:spcAft>
              <a:buChar char="•"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实现客户、银行卡、理财产品及资产相关业务流程。</a:t>
            </a:r>
          </a:p>
          <a:p>
            <a:pPr marL="228600" indent="-127000" algn="l">
              <a:spcAft>
                <a:spcPts val="1600"/>
              </a:spcAft>
              <a:buChar char="•"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完成规定的管理与运维操作，并核对运行结果。</a:t>
            </a:r>
          </a:p>
          <a:p>
            <a:pPr marL="228600" indent="-127000" algn="l">
              <a:spcAft>
                <a:spcPts val="1600"/>
              </a:spcAft>
              <a:buChar char="•"/>
              <a:defRPr sz="210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代码能够按照运行说明执行，结果与报告记录一致。</a:t>
            </a:r>
          </a:p>
        </p:txBody>
      </p:sp>
      <p:sp>
        <p:nvSpPr>
          <p:cNvPr id="10" name="base-evaluation"/>
          <p:cNvSpPr>
            <a:spLocks noGrp="1"/>
          </p:cNvSpPr>
          <p:nvPr/>
        </p:nvSpPr>
        <p:spPr>
          <a:xfrm>
            <a:off x="762000" y="5829300"/>
            <a:ext cx="106203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按任务完成程度和正确性评分，不强制额外开发图形或网页界面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6" name="slide-title"/>
          <p:cNvSpPr>
            <a:spLocks noGrp="1"/>
          </p:cNvSpPr>
          <p:nvPr/>
        </p:nvSpPr>
        <p:spPr>
          <a:xfrm>
            <a:off x="723900" y="476250"/>
            <a:ext cx="8953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实验五进阶评价</a:t>
            </a: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1029950" y="64198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</a:p>
        </p:txBody>
      </p:sp>
      <p:sp>
        <p:nvSpPr>
          <p:cNvPr id="8" name="advanced-total"/>
          <p:cNvSpPr>
            <a:spLocks noGrp="1"/>
          </p:cNvSpPr>
          <p:nvPr/>
        </p:nvSpPr>
        <p:spPr>
          <a:xfrm>
            <a:off x="742950" y="1285875"/>
            <a:ext cx="10715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进阶分 20分，自主开展扩展、优化或系统改进</a:t>
            </a:r>
          </a:p>
        </p:txBody>
      </p:sp>
      <p:graphicFrame>
        <p:nvGraphicFramePr>
          <p:cNvPr id="9" name="advanced-rubric"/>
          <p:cNvGraphicFramePr/>
          <p:nvPr/>
        </p:nvGraphicFramePr>
        <p:xfrm>
          <a:off x="742950" y="2000250"/>
          <a:ext cx="10725150" cy="3048000"/>
        </p:xfrm>
        <a:graphic>
          <a:graphicData uri="http://schemas.openxmlformats.org/drawingml/2006/table">
            <a:tbl>
              <a:tblPr/>
              <a:tblGrid>
                <a:gridCol w="3095625"/>
                <a:gridCol w="952500"/>
                <a:gridCol w="6677025"/>
              </a:tblGrid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评价维度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>
                      <a:solidFill>
                        <a:srgbClr val="D6E0D9"/>
                      </a:solidFill>
                      <a:prstDash val="soli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>
                      <a:solidFill>
                        <a:srgbClr val="D6E0D9"/>
                      </a:solidFill>
                      <a:prstDash val="soli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主要评价内容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>
                      <a:solidFill>
                        <a:srgbClr val="D6E0D9"/>
                      </a:solidFill>
                      <a:prstDash val="soli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00561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复杂性与技术深度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业务逻辑、数据关系或技术问题的深度，设计与实现的合理性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新颖性与改进价值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针对原有系统提出有意义的改进，体现自主思考及实际价值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全面性与验证充分性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扩展形成完整流程，相关实现、异常处理和结果验证配套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合计</a:t>
                      </a:r>
                    </a:p>
                  </a:txBody>
                  <a:tcPr anchor="ctr">
                    <a:lnL w="9525">
                      <a:solidFill>
                        <a:srgbClr val="D6E0D9"/>
                      </a:solidFill>
                      <a:prstDash val="soli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63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根据实际完成质量综合评价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0D9"/>
                      </a:solidFill>
                      <a:prstDash val="solid"/>
                    </a:lnR>
                    <a:lnT w="9525" cap="flat" cmpd="sng" algn="ctr">
                      <a:solidFill>
                        <a:srgbClr val="D6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0D9"/>
                      </a:solidFill>
                      <a:prstDash val="solid"/>
                    </a:lnB>
                    <a:solidFill>
                      <a:srgbClr val="ED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6" name="slide-title"/>
          <p:cNvSpPr>
            <a:spLocks noGrp="1"/>
          </p:cNvSpPr>
          <p:nvPr/>
        </p:nvSpPr>
        <p:spPr>
          <a:xfrm>
            <a:off x="723900" y="476250"/>
            <a:ext cx="8953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进阶方向示例</a:t>
            </a: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1029950" y="64198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</a:p>
        </p:txBody>
      </p:sp>
      <p:sp>
        <p:nvSpPr>
          <p:cNvPr id="8" name="direction-0-label"/>
          <p:cNvSpPr>
            <a:spLocks noGrp="1"/>
          </p:cNvSpPr>
          <p:nvPr/>
        </p:nvSpPr>
        <p:spPr>
          <a:xfrm>
            <a:off x="762000" y="142875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业务功能扩展</a:t>
            </a:r>
          </a:p>
        </p:txBody>
      </p:sp>
      <p:sp>
        <p:nvSpPr>
          <p:cNvPr id="9" name="direction-0-detail"/>
          <p:cNvSpPr>
            <a:spLocks noGrp="1"/>
          </p:cNvSpPr>
          <p:nvPr/>
        </p:nvSpPr>
        <p:spPr>
          <a:xfrm>
            <a:off x="4048125" y="1428750"/>
            <a:ext cx="7477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账户转账、资金流水、收益计算、申购额度管理</a:t>
            </a:r>
          </a:p>
        </p:txBody>
      </p:sp>
      <p:sp>
        <p:nvSpPr>
          <p:cNvPr id="10" name="direction-1-label"/>
          <p:cNvSpPr>
            <a:spLocks noGrp="1"/>
          </p:cNvSpPr>
          <p:nvPr/>
        </p:nvSpPr>
        <p:spPr>
          <a:xfrm>
            <a:off x="762000" y="211455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数据查询与分析</a:t>
            </a:r>
          </a:p>
        </p:txBody>
      </p:sp>
      <p:sp>
        <p:nvSpPr>
          <p:cNvPr id="11" name="direction-1-detail"/>
          <p:cNvSpPr>
            <a:spLocks noGrp="1"/>
          </p:cNvSpPr>
          <p:nvPr/>
        </p:nvSpPr>
        <p:spPr>
          <a:xfrm>
            <a:off x="4048125" y="2114550"/>
            <a:ext cx="7477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多表综合查询、按时间统计、客户资产分析与报表</a:t>
            </a:r>
          </a:p>
        </p:txBody>
      </p:sp>
      <p:sp>
        <p:nvSpPr>
          <p:cNvPr id="12" name="direction-2-label"/>
          <p:cNvSpPr>
            <a:spLocks noGrp="1"/>
          </p:cNvSpPr>
          <p:nvPr/>
        </p:nvSpPr>
        <p:spPr>
          <a:xfrm>
            <a:off x="762000" y="280035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数据正确性与可靠性</a:t>
            </a:r>
          </a:p>
        </p:txBody>
      </p:sp>
      <p:sp>
        <p:nvSpPr>
          <p:cNvPr id="13" name="direction-2-detail"/>
          <p:cNvSpPr>
            <a:spLocks noGrp="1"/>
          </p:cNvSpPr>
          <p:nvPr/>
        </p:nvSpPr>
        <p:spPr>
          <a:xfrm>
            <a:off x="4048125" y="2800350"/>
            <a:ext cx="7477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多表事务、失败回滚、并发更新和重复提交处理</a:t>
            </a:r>
          </a:p>
        </p:txBody>
      </p:sp>
      <p:sp>
        <p:nvSpPr>
          <p:cNvPr id="14" name="direction-3-label"/>
          <p:cNvSpPr>
            <a:spLocks noGrp="1"/>
          </p:cNvSpPr>
          <p:nvPr/>
        </p:nvSpPr>
        <p:spPr>
          <a:xfrm>
            <a:off x="762000" y="348615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性能优化</a:t>
            </a:r>
          </a:p>
        </p:txBody>
      </p:sp>
      <p:sp>
        <p:nvSpPr>
          <p:cNvPr id="15" name="direction-3-detail"/>
          <p:cNvSpPr>
            <a:spLocks noGrp="1"/>
          </p:cNvSpPr>
          <p:nvPr/>
        </p:nvSpPr>
        <p:spPr>
          <a:xfrm>
            <a:off x="4048125" y="3486150"/>
            <a:ext cx="7477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索引设计、执行计划分析、批量处理与性能比较</a:t>
            </a:r>
          </a:p>
        </p:txBody>
      </p:sp>
      <p:sp>
        <p:nvSpPr>
          <p:cNvPr id="16" name="direction-4-label"/>
          <p:cNvSpPr>
            <a:spLocks noGrp="1"/>
          </p:cNvSpPr>
          <p:nvPr/>
        </p:nvSpPr>
        <p:spPr>
          <a:xfrm>
            <a:off x="762000" y="417195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权限与管理改进</a:t>
            </a:r>
          </a:p>
        </p:txBody>
      </p:sp>
      <p:sp>
        <p:nvSpPr>
          <p:cNvPr id="17" name="direction-4-detail"/>
          <p:cNvSpPr>
            <a:spLocks noGrp="1"/>
          </p:cNvSpPr>
          <p:nvPr/>
        </p:nvSpPr>
        <p:spPr>
          <a:xfrm>
            <a:off x="4048125" y="4171950"/>
            <a:ext cx="7477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业务角色权限、操作审计、自动化核对与恢复验证</a:t>
            </a:r>
          </a:p>
        </p:txBody>
      </p:sp>
      <p:sp>
        <p:nvSpPr>
          <p:cNvPr id="18" name="direction-5-label"/>
          <p:cNvSpPr>
            <a:spLocks noGrp="1"/>
          </p:cNvSpPr>
          <p:nvPr/>
        </p:nvSpPr>
        <p:spPr>
          <a:xfrm>
            <a:off x="762000" y="485775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交互与工程实现</a:t>
            </a:r>
          </a:p>
        </p:txBody>
      </p:sp>
      <p:sp>
        <p:nvSpPr>
          <p:cNvPr id="19" name="direction-5-detail"/>
          <p:cNvSpPr>
            <a:spLocks noGrp="1"/>
          </p:cNvSpPr>
          <p:nvPr/>
        </p:nvSpPr>
        <p:spPr>
          <a:xfrm>
            <a:off x="4048125" y="4857750"/>
            <a:ext cx="7477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图形界面、可视化、接口服务及配套业务改进</a:t>
            </a:r>
          </a:p>
        </p:txBody>
      </p:sp>
      <p:sp>
        <p:nvSpPr>
          <p:cNvPr id="20" name="open-choice"/>
          <p:cNvSpPr>
            <a:spLocks noGrp="1"/>
          </p:cNvSpPr>
          <p:nvPr/>
        </p:nvSpPr>
        <p:spPr>
          <a:xfrm>
            <a:off x="762000" y="5734050"/>
            <a:ext cx="10668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可选一个方向深入，也可组合多个方向或自拟合理方向</a:t>
            </a:r>
          </a:p>
        </p:txBody>
      </p:sp>
      <p:sp>
        <p:nvSpPr>
          <p:cNvPr id="21" name="quality-over-count"/>
          <p:cNvSpPr>
            <a:spLocks noGrp="1"/>
          </p:cNvSpPr>
          <p:nvPr/>
        </p:nvSpPr>
        <p:spPr>
          <a:xfrm>
            <a:off x="762000" y="61722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不要求全部完成示例，功能数量不直接决定得分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6" name="slide-title"/>
          <p:cNvSpPr>
            <a:spLocks noGrp="1"/>
          </p:cNvSpPr>
          <p:nvPr/>
        </p:nvSpPr>
        <p:spPr>
          <a:xfrm>
            <a:off x="723900" y="476250"/>
            <a:ext cx="8953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实验报告要求</a:t>
            </a: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1029950" y="64198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</a:p>
        </p:txBody>
      </p:sp>
      <p:sp>
        <p:nvSpPr>
          <p:cNvPr id="8" name="report-core-title"/>
          <p:cNvSpPr>
            <a:spLocks noGrp="1"/>
          </p:cNvSpPr>
          <p:nvPr/>
        </p:nvSpPr>
        <p:spPr>
          <a:xfrm>
            <a:off x="762000" y="1447800"/>
            <a:ext cx="50006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五个实验的基本记录</a:t>
            </a:r>
          </a:p>
        </p:txBody>
      </p:sp>
      <p:sp>
        <p:nvSpPr>
          <p:cNvPr id="9" name="report-core"/>
          <p:cNvSpPr>
            <a:spLocks noGrp="1"/>
          </p:cNvSpPr>
          <p:nvPr/>
        </p:nvSpPr>
        <p:spPr>
          <a:xfrm>
            <a:off x="790575" y="2095500"/>
            <a:ext cx="495300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基本信息与成员分工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实际环境、软件及驱动版本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关键步骤、SQL和代码说明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运行结果及正确性核对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问题排查、解决方法与总结</a:t>
            </a:r>
          </a:p>
        </p:txBody>
      </p:sp>
      <p:sp>
        <p:nvSpPr>
          <p:cNvPr id="10" name="advanced-evidence-title"/>
          <p:cNvSpPr>
            <a:spLocks noGrp="1"/>
          </p:cNvSpPr>
          <p:nvPr/>
        </p:nvSpPr>
        <p:spPr>
          <a:xfrm>
            <a:off x="6477000" y="144780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单列进阶实现说明</a:t>
            </a:r>
          </a:p>
        </p:txBody>
      </p:sp>
      <p:sp>
        <p:nvSpPr>
          <p:cNvPr id="11" name="advanced-evidence"/>
          <p:cNvSpPr>
            <a:spLocks noGrp="1"/>
          </p:cNvSpPr>
          <p:nvPr/>
        </p:nvSpPr>
        <p:spPr>
          <a:xfrm>
            <a:off x="6505575" y="2095500"/>
            <a:ext cx="495300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工作目标及改进价值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设计思路与实际实现范围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测试方法、结果与效果分析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对应代码或脚本的位置</a:t>
            </a:r>
          </a:p>
        </p:txBody>
      </p:sp>
      <p:sp>
        <p:nvSpPr>
          <p:cNvPr id="12" name="report-focus"/>
          <p:cNvSpPr>
            <a:spLocks noGrp="1"/>
          </p:cNvSpPr>
          <p:nvPr/>
        </p:nvSpPr>
        <p:spPr>
          <a:xfrm>
            <a:off x="762000" y="58293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报告覆盖五个实验，重点说明实验五。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6" name="slide-title"/>
          <p:cNvSpPr>
            <a:spLocks noGrp="1"/>
          </p:cNvSpPr>
          <p:nvPr/>
        </p:nvSpPr>
        <p:spPr>
          <a:xfrm>
            <a:off x="723900" y="476250"/>
            <a:ext cx="8953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提交材料与运行说明</a:t>
            </a: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1029950" y="64198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</a:p>
        </p:txBody>
      </p:sp>
      <p:sp>
        <p:nvSpPr>
          <p:cNvPr id="8" name="archive-content-title"/>
          <p:cNvSpPr>
            <a:spLocks noGrp="1"/>
          </p:cNvSpPr>
          <p:nvPr/>
        </p:nvSpPr>
        <p:spPr>
          <a:xfrm>
            <a:off x="762000" y="144780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ZIP压缩包内容</a:t>
            </a:r>
          </a:p>
        </p:txBody>
      </p:sp>
      <p:sp>
        <p:nvSpPr>
          <p:cNvPr id="9" name="archive-content"/>
          <p:cNvSpPr>
            <a:spLocks noGrp="1"/>
          </p:cNvSpPr>
          <p:nvPr/>
        </p:nvSpPr>
        <p:spPr>
          <a:xfrm>
            <a:off x="790575" y="2105025"/>
            <a:ext cx="495300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实验报告PDF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完整源代码及必要项目文件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建表、初始化及相关SQL脚本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README运行说明</a:t>
            </a:r>
          </a:p>
        </p:txBody>
      </p:sp>
      <p:sp>
        <p:nvSpPr>
          <p:cNvPr id="10" name="readme-title"/>
          <p:cNvSpPr>
            <a:spLocks noGrp="1"/>
          </p:cNvSpPr>
          <p:nvPr/>
        </p:nvSpPr>
        <p:spPr>
          <a:xfrm>
            <a:off x="6477000" y="144780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README应说明</a:t>
            </a:r>
          </a:p>
        </p:txBody>
      </p:sp>
      <p:sp>
        <p:nvSpPr>
          <p:cNvPr id="11" name="readme"/>
          <p:cNvSpPr>
            <a:spLocks noGrp="1"/>
          </p:cNvSpPr>
          <p:nvPr/>
        </p:nvSpPr>
        <p:spPr>
          <a:xfrm>
            <a:off x="6505575" y="2105025"/>
            <a:ext cx="4953000" cy="2952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依赖版本与配置方法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脚本执行顺序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编译与启动方法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主要功能的验证方式</a:t>
            </a: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762000" y="571500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按实验清楚区分材料，代码、脚本与报告结果保持一致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6" name="slide-title"/>
          <p:cNvSpPr>
            <a:spLocks noGrp="1"/>
          </p:cNvSpPr>
          <p:nvPr/>
        </p:nvSpPr>
        <p:spPr>
          <a:xfrm>
            <a:off x="723900" y="476250"/>
            <a:ext cx="8953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提交方式与文件命名</a:t>
            </a: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1029950" y="64198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</a:p>
        </p:txBody>
      </p:sp>
      <p:sp>
        <p:nvSpPr>
          <p:cNvPr id="8" name="report-file-title"/>
          <p:cNvSpPr>
            <a:spLocks noGrp="1"/>
          </p:cNvSpPr>
          <p:nvPr/>
        </p:nvSpPr>
        <p:spPr>
          <a:xfrm>
            <a:off x="762000" y="14954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仅提交一个 ZIP 压缩包</a:t>
            </a:r>
          </a:p>
        </p:txBody>
      </p:sp>
      <p:sp>
        <p:nvSpPr>
          <p:cNvPr id="9" name="report-file-name"/>
          <p:cNvSpPr>
            <a:spLocks noGrp="1"/>
          </p:cNvSpPr>
          <p:nvPr/>
        </p:nvSpPr>
        <p:spPr>
          <a:xfrm>
            <a:off x="762000" y="214312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班级_学号1_学号2_数据库期末大作业.zip</a:t>
            </a:r>
          </a:p>
        </p:txBody>
      </p:sp>
      <p:sp>
        <p:nvSpPr>
          <p:cNvPr id="10" name="code-file-title"/>
          <p:cNvSpPr>
            <a:spLocks noGrp="1"/>
          </p:cNvSpPr>
          <p:nvPr/>
        </p:nvSpPr>
        <p:spPr>
          <a:xfrm>
            <a:off x="762000" y="3124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压缩包内包含</a:t>
            </a:r>
          </a:p>
        </p:txBody>
      </p:sp>
      <p:sp>
        <p:nvSpPr>
          <p:cNvPr id="11" name="code-file-name"/>
          <p:cNvSpPr>
            <a:spLocks noGrp="1"/>
          </p:cNvSpPr>
          <p:nvPr/>
        </p:nvSpPr>
        <p:spPr>
          <a:xfrm>
            <a:off x="762000" y="37719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实验报告PDF、代码与脚本、配置模板和README</a:t>
            </a:r>
          </a:p>
        </p:txBody>
      </p:sp>
      <p:sp>
        <p:nvSpPr>
          <p:cNvPr id="12" name="submission-details"/>
          <p:cNvSpPr>
            <a:spLocks noGrp="1"/>
          </p:cNvSpPr>
          <p:nvPr/>
        </p:nvSpPr>
        <p:spPr>
          <a:xfrm>
            <a:off x="790575" y="4953000"/>
            <a:ext cx="10525125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每组由一名成员统一提交一个ZIP，独立完成者只填写本人学号。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提交平台与截止时间以课程通知为准。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6" name="slide-title"/>
          <p:cNvSpPr>
            <a:spLocks noGrp="1"/>
          </p:cNvSpPr>
          <p:nvPr/>
        </p:nvSpPr>
        <p:spPr>
          <a:xfrm>
            <a:off x="723900" y="476250"/>
            <a:ext cx="8953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提交检查与学术规范</a:t>
            </a: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1029950" y="64198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2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</a:p>
        </p:txBody>
      </p:sp>
      <p:sp>
        <p:nvSpPr>
          <p:cNvPr id="8" name="check-title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62000" y="146685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提交前检查</a:t>
            </a:r>
          </a:p>
        </p:txBody>
      </p:sp>
      <p:sp>
        <p:nvSpPr>
          <p:cNvPr id="9" name="submit-checks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90575" y="2114550"/>
            <a:ext cx="5048250" cy="361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PDF可正常打开，截图清晰且有说明。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ZIP可解压，报告、代码与脚本齐全。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按README可复现主要结果。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进阶部分有实际实现与验证证据。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报告与代码一致，引用及分工清楚。</a:t>
            </a:r>
          </a:p>
        </p:txBody>
      </p:sp>
      <p:sp>
        <p:nvSpPr>
          <p:cNvPr id="10" name="integrity-title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77000" y="146685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学术规范</a:t>
            </a:r>
          </a:p>
        </p:txBody>
      </p:sp>
      <p:sp>
        <p:nvSpPr>
          <p:cNvPr id="11" name="integrity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505575" y="2114550"/>
            <a:ext cx="4953000" cy="361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由本人或本组成员完成作业。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注明外部资料、代码来源及用途。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如实说明AI辅助的用途与范围。</a:t>
            </a:r>
          </a:p>
          <a:p>
            <a:pPr marL="228600" indent="-127000" algn="l">
              <a:spcAft>
                <a:spcPts val="1600"/>
              </a:spcAft>
              <a:buChar char="•"/>
              <a:defRPr sz="1950" b="0">
                <a:solidFill>
                  <a:srgbClr val="2635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不得抄袭、代做或伪造实验结果。</a:t>
            </a:r>
          </a:p>
        </p:txBody>
      </p:sp>
      <p:sp>
        <p:nvSpPr>
          <p:cNvPr id="12" name="final-deliverables"/>
          <p:cNvSpPr>
            <a:spLocks noGrp="1"/>
          </p:cNvSpPr>
          <p:nvPr/>
        </p:nvSpPr>
        <p:spPr>
          <a:xfrm>
            <a:off x="762000" y="60007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05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最终提交：一个ZIP包，内含PDF报告及全部实验材料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,&quot;left&quot;:60,&quot;top&quot;:115.5,&quot;width&quot;:842.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,&quot;left&quot;:60,&quot;top&quot;:115.5,&quot;width&quot;:842.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,&quot;left&quot;:60,&quot;top&quot;:115.5,&quot;width&quot;:842.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,&quot;left&quot;:60,&quot;top&quot;:115.5,&quot;width&quot;:842.2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420</Words>
  <Application>Microsoft Office PowerPoint</Application>
  <PresentationFormat>自定义</PresentationFormat>
  <Paragraphs>157</Paragraphs>
  <Slides>12</Slides>
  <Notes>12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LiuYubao</cp:lastModifiedBy>
  <cp:revision>4</cp:revision>
  <dcterms:created xsi:type="dcterms:W3CDTF">2026-10-25T08:49:38Z</dcterms:created>
  <dcterms:modified xsi:type="dcterms:W3CDTF">2026-10-26T06:49:02Z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4C6A0B7BFE734138972E525BA53BA083_12</vt:lpwstr>
  </property>
  <property fmtid="{D5CDD505-2E9C-101B-9397-08002B2CF9AE}" pid="3" name="KSOProductBuildVer">
    <vt:lpwstr>2052-12.1.0.29161</vt:lpwstr>
  </property>
</Properties>
</file>